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57" r:id="rId4"/>
    <p:sldId id="258" r:id="rId5"/>
    <p:sldId id="260" r:id="rId6"/>
    <p:sldId id="259" r:id="rId7"/>
    <p:sldId id="284" r:id="rId8"/>
    <p:sldId id="269" r:id="rId9"/>
    <p:sldId id="261" r:id="rId10"/>
    <p:sldId id="271" r:id="rId11"/>
    <p:sldId id="279" r:id="rId12"/>
    <p:sldId id="274" r:id="rId13"/>
    <p:sldId id="285" r:id="rId14"/>
    <p:sldId id="263" r:id="rId15"/>
    <p:sldId id="282" r:id="rId16"/>
    <p:sldId id="286" r:id="rId17"/>
    <p:sldId id="275" r:id="rId18"/>
    <p:sldId id="277" r:id="rId19"/>
    <p:sldId id="276" r:id="rId20"/>
    <p:sldId id="278" r:id="rId21"/>
  </p:sldIdLst>
  <p:sldSz cx="9144000" cy="6858000" type="screen4x3"/>
  <p:notesSz cx="7315200" cy="96012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4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howGuides="1">
      <p:cViewPr varScale="1">
        <p:scale>
          <a:sx n="84" d="100"/>
          <a:sy n="84" d="100"/>
        </p:scale>
        <p:origin x="1418" y="34"/>
      </p:cViewPr>
      <p:guideLst>
        <p:guide orient="horz" pos="214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4" Type="http://schemas.openxmlformats.org/officeDocument/2006/relationships/tableStyles" Target="tableStyles.xml"/><Relationship Id="rId23" Type="http://schemas.openxmlformats.org/officeDocument/2006/relationships/viewProps" Target="viewProps.xml"/><Relationship Id="rId22" Type="http://schemas.openxmlformats.org/officeDocument/2006/relationships/presProps" Target="presProps.xml"/><Relationship Id="rId21" Type="http://schemas.openxmlformats.org/officeDocument/2006/relationships/slide" Target="slides/slide19.xml"/><Relationship Id="rId20" Type="http://schemas.openxmlformats.org/officeDocument/2006/relationships/slide" Target="slides/slide18.xml"/><Relationship Id="rId2" Type="http://schemas.openxmlformats.org/officeDocument/2006/relationships/theme" Target="theme/theme1.xml"/><Relationship Id="rId19" Type="http://schemas.openxmlformats.org/officeDocument/2006/relationships/slide" Target="slides/slide17.xml"/><Relationship Id="rId18" Type="http://schemas.openxmlformats.org/officeDocument/2006/relationships/slide" Target="slides/slide16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2D5EA8C-31D8-4AE2-B882-84C84F479477}" type="datetimeFigureOut">
              <a:rPr lang="en-US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C1F5670-D3F4-45C7-B985-727ECBBC4E31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D9CD17A-954D-467D-91A5-E7BCAA89A8CF}" type="datetimeFigureOut">
              <a:rPr lang="en-US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23E33BD-E18E-4BE1-9714-EE4282389175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B7D8F27-B1E0-4579-A0D4-F4DE761D87B0}" type="datetimeFigureOut">
              <a:rPr lang="en-US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794A030-EF6A-4762-B30C-DE8655F57C18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1E9A495-73A6-4F65-8AAC-5D89FFE343E7}" type="datetimeFigureOut">
              <a:rPr lang="en-US"/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367087B-68C8-47F2-B5D0-EF32CB23F865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4590D62-48B1-4815-B83E-6D1A5DC794AF}" type="datetimeFigureOut">
              <a:rPr lang="en-US"/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4497330-42CC-42AC-87F9-5A3675C691E0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FD49768-A570-41B7-95C0-54055C4A81EA}" type="datetimeFigureOut">
              <a:rPr lang="en-US"/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06CAFDE-0C38-456D-B802-21864C3F830D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923B2D8-3E52-4F62-9DC4-54C38533946B}" type="datetimeFigureOut">
              <a:rPr lang="en-US"/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4B0D651-56A8-4CE0-9D94-65BDDFDEBFA7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9B30D5C-5BFF-46B6-BA99-36AC4468BF79}" type="datetimeFigureOut">
              <a:rPr lang="en-US"/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17F8457-8BC5-42F4-9665-36B7DF8528E8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7F9CFCE-761F-40B2-848A-CB9D594FBAFC}" type="datetimeFigureOut">
              <a:rPr lang="en-US"/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370734B-61FB-498A-8F45-B91ADB27494E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59876BE-1A06-47CE-A4A2-6C5C1D1C326F}" type="datetimeFigureOut">
              <a:rPr lang="en-US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EE3F1DD-6A4D-4A6A-9723-33B3A792EBB9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CE2D721-3603-4DC2-ACAB-C8C719AFE1B1}" type="datetimeFigureOut">
              <a:rPr lang="en-US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1A63DAF-319D-456B-AC92-51897CFD44FC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3" Type="http://schemas.openxmlformats.org/officeDocument/2006/relationships/theme" Target="../theme/theme1.xml"/><Relationship Id="rId12" Type="http://schemas.openxmlformats.org/officeDocument/2006/relationships/image" Target="../media/image1.jpeg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2" cstate="print">
            <a:lum/>
          </a:blip>
          <a:srcRect/>
          <a:stretch>
            <a:fillRect l="-5000" r="-5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/>
          <a:lstStyle/>
          <a:p>
            <a:pPr lvl="0"/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500E64A2-E0A4-4DC6-9829-7CF64BBF5B65}" type="datetimeFigureOut">
              <a:rPr lang="en-US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C6E01495-F694-4C46-966A-5FC739EB7C9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3.jpeg"/><Relationship Id="rId1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 cstate="print">
            <a:lum/>
          </a:blip>
          <a:srcRect/>
          <a:stretch>
            <a:fillRect l="-5000" r="-5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Final Year Project</a:t>
            </a:r>
            <a:endParaRPr lang="en-US" dirty="0"/>
          </a:p>
        </p:txBody>
      </p:sp>
      <p:sp>
        <p:nvSpPr>
          <p:cNvPr id="5123" name="Subtitle 2"/>
          <p:cNvSpPr>
            <a:spLocks noGrp="1"/>
          </p:cNvSpPr>
          <p:nvPr>
            <p:ph type="subTitle" idx="1"/>
          </p:nvPr>
        </p:nvSpPr>
        <p:spPr/>
        <p:txBody>
          <a:bodyPr rtlCol="0">
            <a:normAutofit/>
          </a:bodyPr>
          <a:lstStyle/>
          <a:p>
            <a:pPr marL="63500" eaLnBrk="1" fontAlgn="auto" hangingPunct="1">
              <a:spcAft>
                <a:spcPts val="0"/>
              </a:spcAft>
              <a:buFont typeface="Arial" panose="020B0604020202020204" pitchFamily="34" charset="0"/>
              <a:buNone/>
              <a:defRPr/>
            </a:pPr>
            <a:r>
              <a:rPr lang="en-US" dirty="0">
                <a:sym typeface="+mn-ea"/>
              </a:rPr>
              <a:t>Skill Link</a:t>
            </a:r>
            <a:endParaRPr lang="en-US" dirty="0">
              <a:sym typeface="+mn-ea"/>
            </a:endParaRPr>
          </a:p>
          <a:p>
            <a:pPr marL="63500" eaLnBrk="1" fontAlgn="auto" hangingPunct="1">
              <a:spcAft>
                <a:spcPts val="0"/>
              </a:spcAft>
              <a:buFont typeface="Arial" panose="020B0604020202020204" pitchFamily="34" charset="0"/>
              <a:buNone/>
              <a:defRPr/>
            </a:pPr>
            <a:r>
              <a:rPr lang="en-US" sz="1400" dirty="0"/>
              <a:t>Supervised By:Mr Muhammad Nadeem Khan</a:t>
            </a:r>
            <a:endParaRPr lang="en-US" sz="1400" dirty="0"/>
          </a:p>
        </p:txBody>
      </p:sp>
      <p:pic>
        <p:nvPicPr>
          <p:cNvPr id="2052" name="Picture 3" descr="Riphah.jpg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033" t="4065" r="6926" b="4926"/>
          <a:stretch>
            <a:fillRect/>
          </a:stretch>
        </p:blipFill>
        <p:spPr bwMode="auto">
          <a:xfrm>
            <a:off x="4076700" y="1295400"/>
            <a:ext cx="990600" cy="1295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Project Team</a:t>
            </a:r>
            <a:endParaRPr lang="en-US"/>
          </a:p>
        </p:txBody>
      </p:sp>
      <p:sp>
        <p:nvSpPr>
          <p:cNvPr id="3075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/>
              <a:t>Sana Ullah 13328</a:t>
            </a:r>
            <a:endParaRPr lang="en-US"/>
          </a:p>
          <a:p>
            <a:pPr eaLnBrk="1" hangingPunct="1"/>
            <a:r>
              <a:rPr lang="en-US"/>
              <a:t>Hammad Javed 26693</a:t>
            </a:r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Table of Content</a:t>
            </a:r>
            <a:endParaRPr lang="en-US"/>
          </a:p>
        </p:txBody>
      </p:sp>
      <p:sp>
        <p:nvSpPr>
          <p:cNvPr id="4099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sz="2800" dirty="0"/>
              <a:t>Opportunity &amp; Stakeholders </a:t>
            </a:r>
            <a:endParaRPr lang="en-US" sz="2800" dirty="0"/>
          </a:p>
          <a:p>
            <a:pPr eaLnBrk="1" hangingPunct="1"/>
            <a:r>
              <a:rPr lang="en-US" sz="2800" dirty="0"/>
              <a:t>Solution</a:t>
            </a:r>
            <a:endParaRPr lang="en-US" sz="2800" dirty="0"/>
          </a:p>
          <a:p>
            <a:pPr eaLnBrk="1" hangingPunct="1"/>
            <a:r>
              <a:rPr lang="en-US" sz="2800" dirty="0"/>
              <a:t>Progress Report Summary</a:t>
            </a:r>
            <a:endParaRPr lang="en-US" sz="2800" dirty="0"/>
          </a:p>
          <a:p>
            <a:pPr lvl="1" eaLnBrk="1" hangingPunct="1"/>
            <a:r>
              <a:rPr lang="en-US" sz="2400" dirty="0"/>
              <a:t>Requirements</a:t>
            </a:r>
            <a:endParaRPr lang="en-US" sz="2400" dirty="0"/>
          </a:p>
          <a:p>
            <a:pPr lvl="1" eaLnBrk="1" hangingPunct="1"/>
            <a:r>
              <a:rPr lang="en-US" sz="2400" dirty="0"/>
              <a:t>Software System (Design + Implementation + Testing)</a:t>
            </a:r>
            <a:endParaRPr lang="en-US" sz="2400" dirty="0"/>
          </a:p>
          <a:p>
            <a:pPr lvl="1" eaLnBrk="1" hangingPunct="1"/>
            <a:r>
              <a:rPr lang="en-US" sz="2400" dirty="0"/>
              <a:t>Endeavour (Team + Work + Way of Working)</a:t>
            </a:r>
            <a:endParaRPr lang="en-US" sz="2400" dirty="0"/>
          </a:p>
          <a:p>
            <a:pPr eaLnBrk="1" hangingPunct="1"/>
            <a:r>
              <a:rPr lang="en-US" sz="2800" dirty="0"/>
              <a:t>Next Steps</a:t>
            </a:r>
            <a:endParaRPr lang="en-US" sz="2800" dirty="0"/>
          </a:p>
          <a:p>
            <a:pPr eaLnBrk="1" hangingPunct="1"/>
            <a:r>
              <a:rPr lang="en-US" sz="2800" dirty="0"/>
              <a:t>Prototype / Report</a:t>
            </a:r>
            <a:endParaRPr lang="en-US" sz="2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dirty="0"/>
              <a:t>Opportunity &amp; Stakeholders</a:t>
            </a:r>
            <a:endParaRPr lang="en-US" dirty="0"/>
          </a:p>
        </p:txBody>
      </p:sp>
      <p:sp>
        <p:nvSpPr>
          <p:cNvPr id="8195" name="Text Placeholder 4"/>
          <p:cNvSpPr>
            <a:spLocks noGrp="1"/>
          </p:cNvSpPr>
          <p:nvPr>
            <p:ph type="body" idx="1"/>
          </p:nvPr>
        </p:nvSpPr>
        <p:spPr/>
        <p:txBody>
          <a:bodyPr rtlCol="0">
            <a:normAutofit/>
          </a:bodyPr>
          <a:lstStyle/>
          <a:p>
            <a:pPr marL="44450" eaLnBrk="1" fontAlgn="auto" hangingPunct="1">
              <a:spcAft>
                <a:spcPts val="0"/>
              </a:spcAft>
              <a:buFont typeface="Arial" panose="020B0604020202020204" pitchFamily="34" charset="0"/>
              <a:buNone/>
              <a:defRPr/>
            </a:pPr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Opportunity </a:t>
            </a:r>
            <a:endParaRPr lang="en-US" dirty="0"/>
          </a:p>
        </p:txBody>
      </p:sp>
      <p:sp>
        <p:nvSpPr>
          <p:cNvPr id="6147" name="Content Placeholder 2"/>
          <p:cNvSpPr>
            <a:spLocks noGrp="1"/>
          </p:cNvSpPr>
          <p:nvPr>
            <p:ph idx="1"/>
          </p:nvPr>
        </p:nvSpPr>
        <p:spPr>
          <a:xfrm>
            <a:off x="457200" y="1447800"/>
            <a:ext cx="8229600" cy="4525963"/>
          </a:xfrm>
        </p:spPr>
        <p:txBody>
          <a:bodyPr/>
          <a:lstStyle/>
          <a:p>
            <a:pPr marL="0" indent="0" algn="just" eaLnBrk="1" hangingPunct="1">
              <a:buNone/>
            </a:pPr>
            <a:r>
              <a:rPr lang="en-US" altLang="en-US" sz="2400" b="1"/>
              <a:t>Hard to Find Good Workers</a:t>
            </a:r>
            <a:endParaRPr lang="en-US" altLang="en-US" sz="2400" b="1"/>
          </a:p>
          <a:p>
            <a:pPr algn="just" eaLnBrk="1" hangingPunct="1"/>
            <a:r>
              <a:rPr lang="en-US" altLang="en-US" sz="2400"/>
              <a:t>People often struggle to find reliable and skilled workers like plumbers or electricians. Many times, they don't know who to trust or where to look.</a:t>
            </a:r>
            <a:endParaRPr lang="en-US" altLang="en-US" sz="2400"/>
          </a:p>
          <a:p>
            <a:pPr marL="0" indent="0" algn="just" eaLnBrk="1" hangingPunct="1">
              <a:buNone/>
            </a:pPr>
            <a:r>
              <a:rPr lang="en-US" altLang="en-US" sz="2400" b="1"/>
              <a:t>Takes Too Much Time</a:t>
            </a:r>
            <a:endParaRPr lang="en-US" altLang="en-US" sz="2400" b="1"/>
          </a:p>
          <a:p>
            <a:pPr algn="just" eaLnBrk="1" hangingPunct="1"/>
            <a:r>
              <a:rPr lang="en-US" altLang="en-US" sz="2400"/>
              <a:t>Searching for a worker, calling around, and comparing prices or availability can waste a lot of time and effort for both customers and workers.</a:t>
            </a:r>
            <a:endParaRPr lang="en-US" altLang="en-US" sz="2400"/>
          </a:p>
          <a:p>
            <a:pPr marL="0" indent="0" algn="just" eaLnBrk="1" hangingPunct="1">
              <a:buNone/>
            </a:pPr>
            <a:r>
              <a:rPr lang="en-US" altLang="en-US" sz="2400" b="1"/>
              <a:t>Help Needed in Emergencies</a:t>
            </a:r>
            <a:endParaRPr lang="en-US" altLang="en-US" sz="2400" b="1"/>
          </a:p>
          <a:p>
            <a:pPr algn="just" eaLnBrk="1" hangingPunct="1"/>
            <a:r>
              <a:rPr lang="en-US" altLang="en-US" sz="2400"/>
              <a:t>In urgent situations like a gas leak or electrical problem, people need quick help but don’t have a fast way to contact nearby professionals.</a:t>
            </a:r>
            <a:endParaRPr lang="en-US" altLang="en-US" sz="24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dirty="0">
                <a:sym typeface="+mn-ea"/>
              </a:rPr>
              <a:t>Stakeholders</a:t>
            </a:r>
            <a:endParaRPr lang="en-US" b="1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r>
              <a:rPr lang="en-US" altLang="en-US" sz="2400" b="1" dirty="0">
                <a:sym typeface="+mn-ea"/>
              </a:rPr>
              <a:t>   Customers</a:t>
            </a:r>
            <a:endParaRPr lang="en-US" altLang="en-US" sz="2400" b="1" dirty="0"/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r>
              <a:rPr lang="en-US" altLang="en-US" sz="2400" b="1" dirty="0">
                <a:sym typeface="+mn-ea"/>
              </a:rPr>
              <a:t>   Workers(Plumber,Electrician,Cleaner)</a:t>
            </a:r>
            <a:endParaRPr lang="en-US" altLang="en-US" sz="2400" b="1" dirty="0"/>
          </a:p>
          <a:p>
            <a:r>
              <a:rPr lang="en-US" altLang="en-US" sz="2400" b="1" dirty="0">
                <a:sym typeface="+mn-ea"/>
              </a:rPr>
              <a:t>Admin</a:t>
            </a:r>
            <a:endParaRPr lang="en-US" sz="24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Solution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447800"/>
            <a:ext cx="8229600" cy="4525963"/>
          </a:xfrm>
        </p:spPr>
        <p:txBody>
          <a:bodyPr/>
          <a:lstStyle/>
          <a:p>
            <a:pPr marL="0" indent="0" algn="just">
              <a:buNone/>
            </a:pPr>
            <a:r>
              <a:rPr lang="en-US" altLang="en-US" sz="2400"/>
              <a:t>SkillLink is a mobile app that helps people quickly find trusted skilled workers like plumbers, electricians, and house cleaners.</a:t>
            </a:r>
            <a:endParaRPr lang="en-US" altLang="en-US" sz="2400"/>
          </a:p>
          <a:p>
            <a:pPr algn="just"/>
            <a:r>
              <a:rPr lang="en-US" altLang="en-US" sz="2400"/>
              <a:t>The app uses real-time location to show nearby workers, so you can get help fast.</a:t>
            </a:r>
            <a:endParaRPr lang="en-US" altLang="en-US" sz="2400"/>
          </a:p>
          <a:p>
            <a:pPr algn="just"/>
            <a:r>
              <a:rPr lang="en-US" altLang="en-US" sz="2400"/>
              <a:t>You can check worker profiles book services in this mobile  application.</a:t>
            </a:r>
            <a:endParaRPr lang="en-US" altLang="en-US" sz="2400"/>
          </a:p>
          <a:p>
            <a:pPr algn="just"/>
            <a:r>
              <a:rPr lang="en-US" altLang="en-US" sz="2400"/>
              <a:t>Prices are clear and fair, with no hidden charges.</a:t>
            </a:r>
            <a:endParaRPr lang="en-US" altLang="en-US" sz="2400"/>
          </a:p>
          <a:p>
            <a:pPr algn="just"/>
            <a:r>
              <a:rPr lang="en-US" altLang="en-US" sz="2400"/>
              <a:t> SkillLink helps you find the right person for the job, even in an emergency.</a:t>
            </a:r>
            <a:endParaRPr lang="en-US" altLang="en-US" sz="24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dirty="0"/>
              <a:t>PROGRESS REPORT</a:t>
            </a:r>
            <a:br>
              <a:rPr lang="en-US" dirty="0"/>
            </a:br>
            <a:r>
              <a:rPr lang="en-US" dirty="0"/>
              <a:t>Summary</a:t>
            </a:r>
            <a:endParaRPr lang="en-US" dirty="0"/>
          </a:p>
        </p:txBody>
      </p:sp>
      <p:sp>
        <p:nvSpPr>
          <p:cNvPr id="10243" name="Text Placeholder 4"/>
          <p:cNvSpPr>
            <a:spLocks noGrp="1"/>
          </p:cNvSpPr>
          <p:nvPr>
            <p:ph type="body" idx="1"/>
          </p:nvPr>
        </p:nvSpPr>
        <p:spPr/>
        <p:txBody>
          <a:bodyPr rtlCol="0">
            <a:normAutofit/>
          </a:bodyPr>
          <a:lstStyle/>
          <a:p>
            <a:pPr marL="44450" eaLnBrk="1" fontAlgn="auto" hangingPunct="1">
              <a:spcAft>
                <a:spcPts val="0"/>
              </a:spcAft>
              <a:buFont typeface="Arial" panose="020B0604020202020204" pitchFamily="34" charset="0"/>
              <a:buNone/>
              <a:defRPr/>
            </a:pPr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Requirements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algn="just">
              <a:buNone/>
            </a:pPr>
            <a:r>
              <a:rPr lang="en-US" sz="2000" b="1" dirty="0">
                <a:cs typeface="+mn-lt"/>
              </a:rPr>
              <a:t>Elicitation Techniques / Tools</a:t>
            </a:r>
            <a:endParaRPr lang="en-US" sz="2000" b="1" dirty="0">
              <a:cs typeface="+mn-lt"/>
            </a:endParaRPr>
          </a:p>
          <a:p>
            <a:pPr algn="just">
              <a:buFont typeface="Arial" panose="020B0604020202020204" pitchFamily="34" charset="0"/>
              <a:buChar char="•"/>
            </a:pPr>
            <a:r>
              <a:rPr lang="en-US" sz="2000" b="1" dirty="0" smtClean="0">
                <a:cs typeface="+mn-lt"/>
                <a:sym typeface="+mn-ea"/>
              </a:rPr>
              <a:t>Observation</a:t>
            </a:r>
            <a:r>
              <a:rPr lang="en-US" altLang="en-US" sz="2000" b="1" dirty="0">
                <a:cs typeface="+mn-lt"/>
              </a:rPr>
              <a:t>:</a:t>
            </a:r>
            <a:endParaRPr lang="en-US" altLang="en-US" sz="2000" b="1" dirty="0">
              <a:cs typeface="+mn-lt"/>
            </a:endParaRPr>
          </a:p>
          <a:p>
            <a:pPr algn="just">
              <a:buFont typeface="Arial" panose="020B0604020202020204" pitchFamily="34" charset="0"/>
              <a:buChar char="•"/>
            </a:pPr>
            <a:r>
              <a:rPr lang="en-US" altLang="en-US" sz="2000" b="1" dirty="0">
                <a:cs typeface="+mn-lt"/>
              </a:rPr>
              <a:t>Brainstorming:</a:t>
            </a:r>
            <a:endParaRPr lang="en-US" altLang="en-US" sz="2000" b="1" dirty="0">
              <a:cs typeface="+mn-lt"/>
            </a:endParaRPr>
          </a:p>
          <a:p>
            <a:pPr marL="0" indent="0" algn="just">
              <a:buFont typeface="Arial" panose="020B0604020202020204" pitchFamily="34" charset="0"/>
              <a:buNone/>
            </a:pPr>
            <a:r>
              <a:rPr lang="en-US" sz="2000" b="1" dirty="0" smtClean="0">
                <a:cs typeface="+mn-lt"/>
                <a:sym typeface="+mn-ea"/>
              </a:rPr>
              <a:t>Functional Requirements</a:t>
            </a:r>
            <a:endParaRPr lang="en-US" sz="2000" b="1" dirty="0" smtClean="0">
              <a:cs typeface="+mn-lt"/>
              <a:sym typeface="+mn-ea"/>
            </a:endParaRPr>
          </a:p>
          <a:p>
            <a:pPr algn="just"/>
            <a:r>
              <a:rPr lang="en-US" sz="2000" b="1" dirty="0" smtClean="0">
                <a:cs typeface="+mn-lt"/>
                <a:sym typeface="+mn-ea"/>
              </a:rPr>
              <a:t>Customer</a:t>
            </a:r>
            <a:endParaRPr lang="en-US" sz="2000" b="1" dirty="0" smtClean="0">
              <a:cs typeface="+mn-lt"/>
              <a:sym typeface="+mn-ea"/>
            </a:endParaRPr>
          </a:p>
          <a:p>
            <a:pPr algn="just"/>
            <a:r>
              <a:rPr lang="en-US" sz="2000" b="1" dirty="0" smtClean="0">
                <a:cs typeface="+mn-lt"/>
                <a:sym typeface="+mn-ea"/>
              </a:rPr>
              <a:t>Worker</a:t>
            </a:r>
            <a:r>
              <a:rPr lang="en-US" altLang="en-US" sz="2000" b="1" dirty="0">
                <a:sym typeface="+mn-ea"/>
              </a:rPr>
              <a:t>(Plumber,Electrician,Cleaner)</a:t>
            </a:r>
            <a:endParaRPr lang="en-US" sz="2000" b="1" dirty="0" smtClean="0">
              <a:cs typeface="+mn-lt"/>
              <a:sym typeface="+mn-ea"/>
            </a:endParaRPr>
          </a:p>
          <a:p>
            <a:pPr algn="just"/>
            <a:r>
              <a:rPr lang="en-US" sz="2000" b="1" dirty="0" smtClean="0">
                <a:cs typeface="+mn-lt"/>
                <a:sym typeface="+mn-ea"/>
              </a:rPr>
              <a:t>Admin</a:t>
            </a:r>
            <a:endParaRPr lang="en-US" sz="2000" b="1" dirty="0" smtClean="0">
              <a:cs typeface="+mn-lt"/>
              <a:sym typeface="+mn-ea"/>
            </a:endParaRPr>
          </a:p>
          <a:p>
            <a:pPr marL="0" indent="0" algn="just">
              <a:buNone/>
            </a:pPr>
            <a:r>
              <a:rPr lang="en-US" sz="2000" b="1" dirty="0" smtClean="0">
                <a:cs typeface="+mn-lt"/>
                <a:sym typeface="+mn-ea"/>
              </a:rPr>
              <a:t>Non-Functional Requirements:</a:t>
            </a:r>
            <a:endParaRPr lang="en-US" sz="2000" b="1" dirty="0" smtClean="0">
              <a:cs typeface="+mn-lt"/>
              <a:sym typeface="+mn-ea"/>
            </a:endParaRPr>
          </a:p>
          <a:p>
            <a:pPr algn="just"/>
            <a:r>
              <a:rPr lang="en-US" sz="2000" b="1" dirty="0">
                <a:cs typeface="+mn-lt"/>
              </a:rPr>
              <a:t>None</a:t>
            </a:r>
            <a:endParaRPr lang="en-US" sz="2000" b="1" dirty="0">
              <a:cs typeface="+mn-lt"/>
            </a:endParaRPr>
          </a:p>
          <a:p>
            <a:pPr marL="0" indent="0" algn="just">
              <a:buNone/>
            </a:pPr>
            <a:r>
              <a:rPr lang="en-US" sz="2000" b="1" dirty="0" smtClean="0">
                <a:cs typeface="+mn-lt"/>
                <a:sym typeface="+mn-ea"/>
              </a:rPr>
              <a:t>Use </a:t>
            </a:r>
            <a:r>
              <a:rPr lang="en-US" sz="2000" b="1" dirty="0">
                <a:cs typeface="+mn-lt"/>
                <a:sym typeface="+mn-ea"/>
              </a:rPr>
              <a:t>Cases</a:t>
            </a:r>
            <a:endParaRPr lang="en-US" sz="2000" b="1" dirty="0">
              <a:cs typeface="+mn-lt"/>
            </a:endParaRPr>
          </a:p>
          <a:p>
            <a:pPr marL="0" indent="0" algn="just">
              <a:buFont typeface="Arial" panose="020B0604020202020204" pitchFamily="34" charset="0"/>
              <a:buNone/>
            </a:pPr>
            <a:endParaRPr lang="en-US" altLang="en-US" sz="2000" dirty="0">
              <a:cs typeface="+mn-l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sz="2400" b="1" dirty="0" smtClean="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Model View Controller Diagram</a:t>
            </a:r>
            <a:endParaRPr lang="en-US" sz="2400" b="1" dirty="0" smtClean="0"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z="2400" b="1" dirty="0" smtClean="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Use-Case Diagram</a:t>
            </a:r>
            <a:endParaRPr lang="en-US" sz="2400" b="1" dirty="0" smtClean="0"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z="2400" b="1" dirty="0"/>
              <a:t>Class Diagram</a:t>
            </a:r>
            <a:endParaRPr lang="en-US" sz="2400" b="1" dirty="0"/>
          </a:p>
          <a:p>
            <a:pPr>
              <a:buFont typeface="Arial" panose="020B0604020202020204" pitchFamily="34" charset="0"/>
              <a:buChar char="•"/>
            </a:pPr>
            <a:r>
              <a:rPr lang="en-US" sz="2400" b="1" dirty="0"/>
              <a:t>Activity Diagrams</a:t>
            </a:r>
            <a:endParaRPr lang="en-US" sz="2400" b="1" dirty="0"/>
          </a:p>
          <a:p>
            <a:pPr>
              <a:buFont typeface="Arial" panose="020B0604020202020204" pitchFamily="34" charset="0"/>
              <a:buChar char="•"/>
            </a:pPr>
            <a:r>
              <a:rPr lang="en-US" sz="2400" b="1" dirty="0"/>
              <a:t>Development Diagram</a:t>
            </a:r>
            <a:endParaRPr lang="en-US" sz="2400" b="1" dirty="0"/>
          </a:p>
          <a:p>
            <a:pPr>
              <a:buFont typeface="Arial" panose="020B0604020202020204" pitchFamily="34" charset="0"/>
              <a:buChar char="•"/>
            </a:pPr>
            <a:endParaRPr lang="en-US" sz="2400" b="1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Implementation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List Development Tools &amp; Technologies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914400" y="2133600"/>
          <a:ext cx="6096000" cy="2895600"/>
        </p:xfrm>
        <a:graphic>
          <a:graphicData uri="http://schemas.openxmlformats.org/drawingml/2006/table">
            <a:tbl>
              <a:tblPr firstRow="1" bandRow="1"/>
              <a:tblGrid>
                <a:gridCol w="3048000"/>
                <a:gridCol w="3048000"/>
              </a:tblGrid>
              <a:tr h="218440">
                <a:tc>
                  <a:txBody>
                    <a:bodyPr/>
                    <a:p>
                      <a:r>
                        <a:rPr lang="en-US" b="1" dirty="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Tools</a:t>
                      </a:r>
                      <a:endParaRPr lang="en-US" b="1" dirty="0" smtClean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p>
                      <a:r>
                        <a:rPr lang="en-US" b="1" dirty="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Technologies</a:t>
                      </a:r>
                      <a:endParaRPr lang="en-US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</a:tr>
              <a:tr h="370840">
                <a:tc>
                  <a:txBody>
                    <a:bodyPr/>
                    <a:p>
                      <a:pPr rtl="0"/>
                      <a:r>
                        <a:rPr lang="en-US" sz="2000" b="0" i="0" u="none" strike="noStrike" kern="1200" dirty="0" smtClean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• Visual Studio Code</a:t>
                      </a:r>
                      <a:endParaRPr lang="en-US" sz="2000" b="0" dirty="0" smtClean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rtl="0"/>
                      <a:r>
                        <a:rPr lang="en-US" sz="2000" b="0" i="0" u="none" strike="noStrike" kern="1200" dirty="0" smtClean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• Andorid Studio</a:t>
                      </a:r>
                      <a:endParaRPr lang="en-US" sz="2000" b="0" dirty="0" smtClean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rtl="0"/>
                      <a:r>
                        <a:rPr lang="en-US" sz="2000" b="0" i="0" u="none" strike="noStrike" kern="1200" dirty="0" smtClean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• Visual Paradigm</a:t>
                      </a:r>
                      <a:endParaRPr lang="en-US" sz="2000" b="0" dirty="0" smtClean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rtl="0"/>
                      <a:r>
                        <a:rPr lang="en-US" sz="2000" b="0" i="0" u="none" strike="noStrike" kern="1200" dirty="0" smtClean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• Git &amp; GitHub</a:t>
                      </a:r>
                      <a:endParaRPr lang="en-US" sz="2000" b="0" dirty="0" smtClean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rtl="0"/>
                      <a:r>
                        <a:rPr lang="en-US" sz="2000" b="0" i="0" u="none" strike="noStrike" kern="1200" dirty="0" smtClean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• XAMPP</a:t>
                      </a:r>
                      <a:endParaRPr lang="en-US" sz="2000" b="0" i="0" u="none" strike="noStrike" kern="1200" dirty="0" smtClean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</a:endParaRPr>
                    </a:p>
                    <a:p>
                      <a:r>
                        <a:rPr lang="en-US" sz="1800" dirty="0" smtClea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  <a:sym typeface="+mn-ea"/>
                        </a:rPr>
                        <a:t>• </a:t>
                      </a:r>
                      <a:r>
                        <a:rPr lang="en-US" sz="2000" b="0" dirty="0" smtClea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  <a:sym typeface="+mn-ea"/>
                        </a:rPr>
                        <a:t>Canva</a:t>
                      </a:r>
                      <a:endParaRPr lang="en-US" sz="1800" b="0" i="0" u="none" strike="noStrike" kern="1200" dirty="0" smtClean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</a:endParaRPr>
                    </a:p>
                    <a:p>
                      <a:br>
                        <a:rPr lang="en-US" dirty="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</a:br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p>
                      <a:pPr rtl="0"/>
                      <a:r>
                        <a:rPr lang="en-US" sz="2000" b="0" i="0" u="none" strike="noStrike" kern="1200" dirty="0" smtClean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•        </a:t>
                      </a:r>
                      <a:r>
                        <a:rPr lang="en-US" altLang="en-US" sz="2000" b="0" dirty="0" smtClea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Flutter</a:t>
                      </a:r>
                      <a:endParaRPr lang="en-US" altLang="en-US" sz="2000" b="0" dirty="0" smtClean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rtl="0"/>
                      <a:r>
                        <a:rPr lang="en-US" sz="2000" b="0" i="0" u="none" strike="noStrike" kern="1200" dirty="0" smtClean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•        </a:t>
                      </a:r>
                      <a:r>
                        <a:rPr lang="en-US" altLang="en-US" sz="2000" b="0" dirty="0" smtClea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Dart</a:t>
                      </a:r>
                      <a:endParaRPr lang="en-US" altLang="en-US" sz="2000" b="0" dirty="0" smtClean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r>
                        <a:rPr lang="en-US" sz="2000" b="0" i="0" u="none" strike="noStrike" kern="1200" dirty="0" smtClean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•        Laravel</a:t>
                      </a:r>
                      <a:endParaRPr lang="en-US" sz="2000" b="0" i="0" u="none" strike="noStrike" kern="1200" dirty="0" smtClean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</a:endParaRPr>
                    </a:p>
                    <a:p>
                      <a:r>
                        <a:rPr lang="en-US" sz="2000" dirty="0" smtClea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  <a:sym typeface="+mn-ea"/>
                        </a:rPr>
                        <a:t>•        My SQL</a:t>
                      </a:r>
                      <a:endParaRPr lang="en-US" sz="2000" b="0" i="0" u="none" strike="noStrike" kern="1200" dirty="0" smtClean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</a:endParaRPr>
                    </a:p>
                    <a:p>
                      <a:endParaRPr lang="en-US" sz="2000" b="0" i="0" u="none" strike="noStrike" kern="1200" dirty="0" smtClean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</a:endParaRPr>
                    </a:p>
                    <a:p>
                      <a:endParaRPr lang="en-US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dirty="0">
                <a:sym typeface="+mn-ea"/>
              </a:rPr>
              <a:t>Implementation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p>
            <a:pPr marL="0" indent="0" algn="just">
              <a:buNone/>
            </a:pPr>
            <a:r>
              <a:rPr lang="en-US" sz="2400" b="1" dirty="0" smtClean="0">
                <a:cs typeface="+mn-lt"/>
                <a:sym typeface="+mn-ea"/>
              </a:rPr>
              <a:t>List </a:t>
            </a:r>
            <a:r>
              <a:rPr lang="en-US" sz="2400" b="1" dirty="0">
                <a:cs typeface="+mn-lt"/>
                <a:sym typeface="+mn-ea"/>
              </a:rPr>
              <a:t>Best Practices / Coding </a:t>
            </a:r>
            <a:r>
              <a:rPr lang="en-US" sz="2400" b="1" dirty="0" smtClean="0">
                <a:cs typeface="+mn-lt"/>
                <a:sym typeface="+mn-ea"/>
              </a:rPr>
              <a:t>Standards</a:t>
            </a:r>
            <a:endParaRPr lang="en-US" sz="2400" b="1" dirty="0" smtClean="0">
              <a:cs typeface="+mn-lt"/>
            </a:endParaRPr>
          </a:p>
          <a:p>
            <a:pPr marL="0" indent="0" algn="just">
              <a:buNone/>
            </a:pPr>
            <a:r>
              <a:rPr lang="en-US" altLang="en-US" sz="2400" b="1">
                <a:cs typeface="+mn-lt"/>
              </a:rPr>
              <a:t>1. Software Engineering Methodologies</a:t>
            </a:r>
            <a:endParaRPr lang="en-US" altLang="en-US" sz="2400" b="1">
              <a:cs typeface="+mn-lt"/>
            </a:endParaRPr>
          </a:p>
          <a:p>
            <a:pPr algn="just"/>
            <a:r>
              <a:rPr lang="en-US" altLang="en-US" sz="2400">
                <a:cs typeface="+mn-lt"/>
              </a:rPr>
              <a:t>Agile Methodology</a:t>
            </a:r>
            <a:endParaRPr lang="en-US" altLang="en-US" sz="2400">
              <a:cs typeface="+mn-lt"/>
            </a:endParaRPr>
          </a:p>
          <a:p>
            <a:pPr algn="just"/>
            <a:r>
              <a:rPr lang="en-US" altLang="en-US" sz="2400">
                <a:cs typeface="+mn-lt"/>
              </a:rPr>
              <a:t>Scrum Framework</a:t>
            </a:r>
            <a:endParaRPr lang="en-US" altLang="en-US" sz="2400">
              <a:cs typeface="+mn-lt"/>
            </a:endParaRPr>
          </a:p>
          <a:p>
            <a:pPr marL="0" indent="0" algn="just">
              <a:buNone/>
            </a:pPr>
            <a:r>
              <a:rPr lang="en-US" altLang="en-US" sz="2400" b="1">
                <a:cs typeface="+mn-lt"/>
              </a:rPr>
              <a:t>2. Coding Standards</a:t>
            </a:r>
            <a:endParaRPr lang="en-US" altLang="en-US" sz="2400" b="1">
              <a:cs typeface="+mn-lt"/>
            </a:endParaRPr>
          </a:p>
          <a:p>
            <a:pPr algn="just"/>
            <a:r>
              <a:rPr lang="en-US" altLang="en-US" sz="2400">
                <a:cs typeface="+mn-lt"/>
              </a:rPr>
              <a:t>Naming Conventions</a:t>
            </a:r>
            <a:endParaRPr lang="en-US" altLang="en-US" sz="2400">
              <a:cs typeface="+mn-lt"/>
            </a:endParaRPr>
          </a:p>
          <a:p>
            <a:pPr algn="just"/>
            <a:r>
              <a:rPr lang="en-US" altLang="en-US" sz="2400">
                <a:cs typeface="+mn-lt"/>
              </a:rPr>
              <a:t>Code Documentation</a:t>
            </a:r>
            <a:endParaRPr lang="en-US" altLang="en-US" sz="2400">
              <a:cs typeface="+mn-lt"/>
            </a:endParaRPr>
          </a:p>
          <a:p>
            <a:pPr algn="just"/>
            <a:endParaRPr lang="en-US" altLang="en-US" sz="2400">
              <a:cs typeface="+mn-lt"/>
            </a:endParaRPr>
          </a:p>
          <a:p>
            <a:pPr marL="0" indent="0" algn="just">
              <a:buNone/>
            </a:pPr>
            <a:endParaRPr lang="en-US" altLang="en-US" sz="2400" b="1">
              <a:cs typeface="+mn-lt"/>
            </a:endParaRPr>
          </a:p>
          <a:p>
            <a:pPr algn="just"/>
            <a:endParaRPr lang="en-US" altLang="en-US" sz="2400" b="1">
              <a:cs typeface="+mn-lt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dirty="0"/>
              <a:t>Endeavour</a:t>
            </a:r>
            <a:endParaRPr lang="en-US" dirty="0"/>
          </a:p>
        </p:txBody>
      </p:sp>
      <p:sp>
        <p:nvSpPr>
          <p:cNvPr id="12291" name="Text Placeholder 4"/>
          <p:cNvSpPr>
            <a:spLocks noGrp="1"/>
          </p:cNvSpPr>
          <p:nvPr>
            <p:ph type="body" idx="1"/>
          </p:nvPr>
        </p:nvSpPr>
        <p:spPr/>
        <p:txBody>
          <a:bodyPr rtlCol="0">
            <a:normAutofit/>
          </a:bodyPr>
          <a:lstStyle/>
          <a:p>
            <a:pPr marL="44450" eaLnBrk="1" fontAlgn="auto" hangingPunct="1">
              <a:spcAft>
                <a:spcPts val="0"/>
              </a:spcAft>
              <a:buFont typeface="Arial" panose="020B0604020202020204" pitchFamily="34" charset="0"/>
              <a:buNone/>
              <a:defRPr/>
            </a:pPr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Endeavour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None/>
            </a:pPr>
            <a:r>
              <a:rPr lang="en-US" sz="2400" b="1" dirty="0" smtClean="0">
                <a:cs typeface="+mn-lt"/>
                <a:sym typeface="+mn-ea"/>
              </a:rPr>
              <a:t>Describe </a:t>
            </a:r>
            <a:r>
              <a:rPr lang="en-US" sz="2400" b="1" dirty="0">
                <a:cs typeface="+mn-lt"/>
                <a:sym typeface="+mn-ea"/>
              </a:rPr>
              <a:t>roles of your team members</a:t>
            </a:r>
            <a:endParaRPr lang="en-US" sz="2400" b="1" dirty="0">
              <a:cs typeface="+mn-lt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en-US" sz="2400" b="1" dirty="0">
                <a:cs typeface="+mn-lt"/>
                <a:sym typeface="+mn-ea"/>
              </a:rPr>
              <a:t>Team Members</a:t>
            </a:r>
            <a:endParaRPr lang="en-US" sz="2400" b="1" dirty="0">
              <a:cs typeface="+mn-lt"/>
              <a:sym typeface="+mn-ea"/>
            </a:endParaRP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cs typeface="+mn-lt"/>
              </a:rPr>
              <a:t>Sana Ulah</a:t>
            </a:r>
            <a:endParaRPr lang="en-US" sz="2400" b="1" dirty="0">
              <a:cs typeface="+mn-lt"/>
            </a:endParaRP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cs typeface="+mn-lt"/>
              </a:rPr>
              <a:t>Hammad Javed</a:t>
            </a:r>
            <a:endParaRPr lang="en-US" sz="2400" b="1" dirty="0">
              <a:cs typeface="+mn-lt"/>
            </a:endParaRPr>
          </a:p>
          <a:p>
            <a:pPr marL="0" indent="0">
              <a:buNone/>
            </a:pPr>
            <a:endParaRPr lang="en-US" sz="2400" b="1" dirty="0">
              <a:cs typeface="+mn-lt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dirty="0">
                <a:sym typeface="+mn-ea"/>
              </a:rPr>
              <a:t>Endeavour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p>
            <a:pPr marL="0" indent="0" algn="just">
              <a:buNone/>
            </a:pPr>
            <a:r>
              <a:rPr lang="en-US" sz="2400" b="1" dirty="0">
                <a:cs typeface="+mn-lt"/>
                <a:sym typeface="+mn-ea"/>
              </a:rPr>
              <a:t>Roles:</a:t>
            </a:r>
            <a:endParaRPr lang="en-US" sz="2400" b="1" dirty="0">
              <a:cs typeface="+mn-lt"/>
            </a:endParaRPr>
          </a:p>
          <a:p>
            <a:pPr algn="just"/>
            <a:r>
              <a:rPr lang="en-US" altLang="en-US" sz="2400">
                <a:cs typeface="+mn-lt"/>
              </a:rPr>
              <a:t>Both team members worked together on all parts of the project, including plaining, documentation, design and implementation .</a:t>
            </a:r>
            <a:endParaRPr lang="en-US" altLang="en-US" sz="2400">
              <a:cs typeface="+mn-lt"/>
            </a:endParaRPr>
          </a:p>
          <a:p>
            <a:pPr marL="0" indent="0" algn="just">
              <a:lnSpc>
                <a:spcPct val="150000"/>
              </a:lnSpc>
              <a:buNone/>
            </a:pPr>
            <a:r>
              <a:rPr lang="en-US" sz="2400" b="1" dirty="0">
                <a:cs typeface="+mn-lt"/>
                <a:sym typeface="+mn-ea"/>
              </a:rPr>
              <a:t>Describe your software development process</a:t>
            </a:r>
            <a:endParaRPr lang="en-US" sz="2400" b="1" dirty="0">
              <a:cs typeface="+mn-lt"/>
            </a:endParaRPr>
          </a:p>
          <a:p>
            <a:pPr algn="just">
              <a:lnSpc>
                <a:spcPct val="150000"/>
              </a:lnSpc>
            </a:pPr>
            <a:r>
              <a:rPr lang="en-US" sz="2400" b="1" dirty="0">
                <a:cs typeface="+mn-lt"/>
                <a:sym typeface="+mn-ea"/>
              </a:rPr>
              <a:t>Requirement Gathering: </a:t>
            </a:r>
            <a:r>
              <a:rPr lang="en-US" sz="2400" dirty="0">
                <a:cs typeface="+mn-lt"/>
                <a:sym typeface="+mn-ea"/>
              </a:rPr>
              <a:t>Identified functional and non-functional requirements using elicitation techniques </a:t>
            </a:r>
            <a:endParaRPr lang="en-US" sz="2400" dirty="0">
              <a:cs typeface="+mn-lt"/>
            </a:endParaRPr>
          </a:p>
          <a:p>
            <a:pPr marL="0" indent="0" algn="just">
              <a:buNone/>
            </a:pPr>
            <a:endParaRPr lang="en-US" altLang="en-US" sz="2400">
              <a:cs typeface="+mn-lt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Work Breakdown Structure</a:t>
            </a:r>
            <a:br>
              <a:rPr lang="en-US" dirty="0"/>
            </a:br>
            <a:r>
              <a:rPr lang="en-US" sz="1400" dirty="0"/>
              <a:t>(List of all Deliverables / Strikethrough Completed Deliverables)</a:t>
            </a:r>
            <a:endParaRPr lang="en-US" dirty="0"/>
          </a:p>
        </p:txBody>
      </p:sp>
      <p:sp>
        <p:nvSpPr>
          <p:cNvPr id="8195" name="Content Placeholder 2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12065" indent="0">
              <a:spcBef>
                <a:spcPts val="655"/>
              </a:spcBef>
              <a:buNone/>
              <a:tabLst>
                <a:tab pos="355600" algn="l"/>
                <a:tab pos="356235" algn="l"/>
              </a:tabLst>
            </a:pPr>
            <a:r>
              <a:rPr lang="en-US" sz="2200" b="1" dirty="0">
                <a:cs typeface="+mn-lt"/>
                <a:sym typeface="+mn-ea"/>
              </a:rPr>
              <a:t>Project</a:t>
            </a:r>
            <a:r>
              <a:rPr lang="en-US" sz="2200" b="1" spc="-70" dirty="0">
                <a:cs typeface="+mn-lt"/>
                <a:sym typeface="+mn-ea"/>
              </a:rPr>
              <a:t> </a:t>
            </a:r>
            <a:r>
              <a:rPr lang="en-US" sz="2200" b="1" spc="-10" dirty="0">
                <a:cs typeface="+mn-lt"/>
                <a:sym typeface="+mn-ea"/>
              </a:rPr>
              <a:t>Management</a:t>
            </a:r>
            <a:endParaRPr lang="en-US" sz="2200" b="1" dirty="0">
              <a:cs typeface="+mn-lt"/>
            </a:endParaRPr>
          </a:p>
          <a:p>
            <a:pPr marL="812800" lvl="1" indent="-342900">
              <a:spcBef>
                <a:spcPts val="555"/>
              </a:spcBef>
              <a:buFont typeface="Arial" panose="020B0604020202020204" pitchFamily="34" charset="0"/>
              <a:buChar char="•"/>
              <a:tabLst>
                <a:tab pos="755650" algn="l"/>
                <a:tab pos="756285" algn="l"/>
              </a:tabLst>
            </a:pPr>
            <a:r>
              <a:rPr lang="en-US" sz="2200" strike="sngStrike" spc="-5" dirty="0">
                <a:cs typeface="+mn-lt"/>
                <a:sym typeface="+mn-ea"/>
              </a:rPr>
              <a:t>WBS</a:t>
            </a:r>
            <a:endParaRPr lang="en-US" sz="2200" dirty="0">
              <a:cs typeface="+mn-lt"/>
            </a:endParaRPr>
          </a:p>
          <a:p>
            <a:pPr marL="812800" lvl="1" indent="-342900">
              <a:spcBef>
                <a:spcPts val="485"/>
              </a:spcBef>
              <a:buFont typeface="Arial" panose="020B0604020202020204" pitchFamily="34" charset="0"/>
              <a:buChar char="•"/>
              <a:tabLst>
                <a:tab pos="755650" algn="l"/>
                <a:tab pos="756285" algn="l"/>
              </a:tabLst>
            </a:pPr>
            <a:r>
              <a:rPr lang="en-US" sz="2200" strike="sngStrike" spc="-25" dirty="0">
                <a:cs typeface="+mn-lt"/>
                <a:sym typeface="+mn-ea"/>
              </a:rPr>
              <a:t>Roles</a:t>
            </a:r>
            <a:r>
              <a:rPr lang="en-US" sz="2200" strike="sngStrike" spc="50" dirty="0">
                <a:cs typeface="+mn-lt"/>
                <a:sym typeface="+mn-ea"/>
              </a:rPr>
              <a:t> </a:t>
            </a:r>
            <a:r>
              <a:rPr lang="en-US" sz="2200" strike="sngStrike" dirty="0">
                <a:cs typeface="+mn-lt"/>
                <a:sym typeface="+mn-ea"/>
              </a:rPr>
              <a:t>&amp;</a:t>
            </a:r>
            <a:r>
              <a:rPr lang="en-US" sz="2200" strike="sngStrike" spc="35" dirty="0">
                <a:cs typeface="+mn-lt"/>
                <a:sym typeface="+mn-ea"/>
              </a:rPr>
              <a:t> </a:t>
            </a:r>
            <a:r>
              <a:rPr lang="en-US" sz="2200" strike="sngStrike" spc="-10" dirty="0">
                <a:cs typeface="+mn-lt"/>
                <a:sym typeface="+mn-ea"/>
              </a:rPr>
              <a:t>Responsibility</a:t>
            </a:r>
            <a:r>
              <a:rPr lang="en-US" sz="2200" strike="sngStrike" spc="65" dirty="0">
                <a:cs typeface="+mn-lt"/>
                <a:sym typeface="+mn-ea"/>
              </a:rPr>
              <a:t> </a:t>
            </a:r>
            <a:endParaRPr lang="en-US" sz="2200" strike="sngStrike" dirty="0">
              <a:cs typeface="+mn-lt"/>
            </a:endParaRPr>
          </a:p>
          <a:p>
            <a:pPr marL="812800" lvl="1" indent="-342900">
              <a:spcBef>
                <a:spcPts val="485"/>
              </a:spcBef>
              <a:buFont typeface="Arial" panose="020B0604020202020204" pitchFamily="34" charset="0"/>
              <a:buChar char="•"/>
              <a:tabLst>
                <a:tab pos="755650" algn="l"/>
                <a:tab pos="756285" algn="l"/>
              </a:tabLst>
            </a:pPr>
            <a:r>
              <a:rPr lang="en-US" sz="2200" strike="sngStrike" spc="-10" dirty="0">
                <a:cs typeface="+mn-lt"/>
                <a:sym typeface="+mn-ea"/>
              </a:rPr>
              <a:t>GitHub</a:t>
            </a:r>
            <a:r>
              <a:rPr lang="en-US" sz="2200" strike="sngStrike" spc="35" dirty="0">
                <a:cs typeface="+mn-lt"/>
                <a:sym typeface="+mn-ea"/>
              </a:rPr>
              <a:t> </a:t>
            </a:r>
            <a:r>
              <a:rPr lang="en-US" sz="2200" strike="sngStrike" spc="-5" dirty="0">
                <a:cs typeface="+mn-lt"/>
                <a:sym typeface="+mn-ea"/>
              </a:rPr>
              <a:t>Repositories</a:t>
            </a:r>
            <a:endParaRPr lang="en-US" sz="2200" dirty="0">
              <a:cs typeface="+mn-lt"/>
            </a:endParaRPr>
          </a:p>
          <a:p>
            <a:pPr marL="12065" indent="0">
              <a:spcBef>
                <a:spcPts val="485"/>
              </a:spcBef>
              <a:buNone/>
              <a:tabLst>
                <a:tab pos="355600" algn="l"/>
                <a:tab pos="356235" algn="l"/>
              </a:tabLst>
            </a:pPr>
            <a:r>
              <a:rPr lang="en-US" sz="2200" b="1" spc="5" dirty="0">
                <a:cs typeface="+mn-lt"/>
                <a:sym typeface="+mn-ea"/>
              </a:rPr>
              <a:t>F</a:t>
            </a:r>
            <a:r>
              <a:rPr lang="en-US" sz="2200" b="1" spc="20" dirty="0">
                <a:cs typeface="+mn-lt"/>
                <a:sym typeface="+mn-ea"/>
              </a:rPr>
              <a:t>Y</a:t>
            </a:r>
            <a:r>
              <a:rPr lang="en-US" sz="2200" b="1" dirty="0">
                <a:cs typeface="+mn-lt"/>
                <a:sym typeface="+mn-ea"/>
              </a:rPr>
              <a:t>P</a:t>
            </a:r>
            <a:r>
              <a:rPr lang="en-US" sz="2200" b="1" spc="-65" dirty="0">
                <a:cs typeface="+mn-lt"/>
                <a:sym typeface="+mn-ea"/>
              </a:rPr>
              <a:t> </a:t>
            </a:r>
            <a:r>
              <a:rPr lang="en-US" sz="2200" b="1" spc="-20" dirty="0">
                <a:cs typeface="+mn-lt"/>
                <a:sym typeface="+mn-ea"/>
              </a:rPr>
              <a:t>R</a:t>
            </a:r>
            <a:r>
              <a:rPr lang="en-US" sz="2200" b="1" dirty="0">
                <a:cs typeface="+mn-lt"/>
                <a:sym typeface="+mn-ea"/>
              </a:rPr>
              <a:t>e</a:t>
            </a:r>
            <a:r>
              <a:rPr lang="en-US" sz="2200" b="1" spc="15" dirty="0">
                <a:cs typeface="+mn-lt"/>
                <a:sym typeface="+mn-ea"/>
              </a:rPr>
              <a:t>p</a:t>
            </a:r>
            <a:r>
              <a:rPr lang="en-US" sz="2200" b="1" spc="10" dirty="0">
                <a:cs typeface="+mn-lt"/>
                <a:sym typeface="+mn-ea"/>
              </a:rPr>
              <a:t>or</a:t>
            </a:r>
            <a:r>
              <a:rPr lang="en-US" sz="2200" b="1" dirty="0">
                <a:cs typeface="+mn-lt"/>
                <a:sym typeface="+mn-ea"/>
              </a:rPr>
              <a:t>t</a:t>
            </a:r>
            <a:endParaRPr lang="en-US" sz="2200" b="1" dirty="0">
              <a:cs typeface="+mn-lt"/>
            </a:endParaRPr>
          </a:p>
          <a:p>
            <a:pPr marL="812800" lvl="1" indent="-342900">
              <a:spcBef>
                <a:spcPts val="560"/>
              </a:spcBef>
              <a:buFont typeface="Arial" panose="020B0604020202020204" pitchFamily="34" charset="0"/>
              <a:buChar char="•"/>
              <a:tabLst>
                <a:tab pos="755650" algn="l"/>
                <a:tab pos="756285" algn="l"/>
              </a:tabLst>
            </a:pPr>
            <a:r>
              <a:rPr lang="en-US" sz="2200" strike="sngStrike" spc="-35" dirty="0">
                <a:cs typeface="+mn-lt"/>
                <a:sym typeface="+mn-ea"/>
              </a:rPr>
              <a:t>P</a:t>
            </a:r>
            <a:r>
              <a:rPr lang="en-US" sz="2200" strike="sngStrike" spc="15" dirty="0">
                <a:cs typeface="+mn-lt"/>
                <a:sym typeface="+mn-ea"/>
              </a:rPr>
              <a:t>ro</a:t>
            </a:r>
            <a:r>
              <a:rPr lang="en-US" sz="2200" strike="sngStrike" spc="20" dirty="0">
                <a:cs typeface="+mn-lt"/>
                <a:sym typeface="+mn-ea"/>
              </a:rPr>
              <a:t>j</a:t>
            </a:r>
            <a:r>
              <a:rPr lang="en-US" sz="2200" strike="sngStrike" dirty="0">
                <a:cs typeface="+mn-lt"/>
                <a:sym typeface="+mn-ea"/>
              </a:rPr>
              <a:t>e</a:t>
            </a:r>
            <a:r>
              <a:rPr lang="en-US" sz="2200" strike="sngStrike" spc="15" dirty="0">
                <a:cs typeface="+mn-lt"/>
                <a:sym typeface="+mn-ea"/>
              </a:rPr>
              <a:t>c</a:t>
            </a:r>
            <a:r>
              <a:rPr lang="en-US" sz="2200" strike="sngStrike" dirty="0">
                <a:cs typeface="+mn-lt"/>
                <a:sym typeface="+mn-ea"/>
              </a:rPr>
              <a:t>t</a:t>
            </a:r>
            <a:r>
              <a:rPr lang="en-US" sz="2200" strike="sngStrike" spc="-55" dirty="0">
                <a:cs typeface="+mn-lt"/>
                <a:sym typeface="+mn-ea"/>
              </a:rPr>
              <a:t> </a:t>
            </a:r>
            <a:r>
              <a:rPr lang="en-US" sz="2200" strike="sngStrike" spc="5" dirty="0">
                <a:cs typeface="+mn-lt"/>
                <a:sym typeface="+mn-ea"/>
              </a:rPr>
              <a:t>S</a:t>
            </a:r>
            <a:r>
              <a:rPr lang="en-US" sz="2200" strike="sngStrike" spc="10" dirty="0">
                <a:cs typeface="+mn-lt"/>
                <a:sym typeface="+mn-ea"/>
              </a:rPr>
              <a:t>c</a:t>
            </a:r>
            <a:r>
              <a:rPr lang="en-US" sz="2200" strike="sngStrike" spc="15" dirty="0">
                <a:cs typeface="+mn-lt"/>
                <a:sym typeface="+mn-ea"/>
              </a:rPr>
              <a:t>o</a:t>
            </a:r>
            <a:r>
              <a:rPr lang="en-US" sz="2200" strike="sngStrike" spc="20" dirty="0">
                <a:cs typeface="+mn-lt"/>
                <a:sym typeface="+mn-ea"/>
              </a:rPr>
              <a:t>p</a:t>
            </a:r>
            <a:r>
              <a:rPr lang="en-US" sz="2200" strike="sngStrike" dirty="0">
                <a:cs typeface="+mn-lt"/>
                <a:sym typeface="+mn-ea"/>
              </a:rPr>
              <a:t>e</a:t>
            </a:r>
            <a:r>
              <a:rPr lang="en-US" sz="2200" strike="sngStrike" spc="-95" dirty="0">
                <a:cs typeface="+mn-lt"/>
                <a:sym typeface="+mn-ea"/>
              </a:rPr>
              <a:t> </a:t>
            </a:r>
            <a:r>
              <a:rPr lang="en-US" sz="2200" strike="sngStrike" dirty="0">
                <a:cs typeface="+mn-lt"/>
                <a:sym typeface="+mn-ea"/>
              </a:rPr>
              <a:t>&amp;</a:t>
            </a:r>
            <a:r>
              <a:rPr lang="en-US" sz="2200" strike="sngStrike" spc="40" dirty="0">
                <a:cs typeface="+mn-lt"/>
                <a:sym typeface="+mn-ea"/>
              </a:rPr>
              <a:t> </a:t>
            </a:r>
            <a:r>
              <a:rPr lang="en-US" sz="2200" strike="sngStrike" spc="30" dirty="0">
                <a:cs typeface="+mn-lt"/>
                <a:sym typeface="+mn-ea"/>
              </a:rPr>
              <a:t>O</a:t>
            </a:r>
            <a:r>
              <a:rPr lang="en-US" sz="2200" strike="sngStrike" spc="20" dirty="0">
                <a:cs typeface="+mn-lt"/>
                <a:sym typeface="+mn-ea"/>
              </a:rPr>
              <a:t>bj</a:t>
            </a:r>
            <a:r>
              <a:rPr lang="en-US" sz="2200" strike="sngStrike" dirty="0">
                <a:cs typeface="+mn-lt"/>
                <a:sym typeface="+mn-ea"/>
              </a:rPr>
              <a:t>e</a:t>
            </a:r>
            <a:r>
              <a:rPr lang="en-US" sz="2200" strike="sngStrike" spc="15" dirty="0">
                <a:cs typeface="+mn-lt"/>
                <a:sym typeface="+mn-ea"/>
              </a:rPr>
              <a:t>c</a:t>
            </a:r>
            <a:r>
              <a:rPr lang="en-US" sz="2200" strike="sngStrike" spc="-30" dirty="0">
                <a:cs typeface="+mn-lt"/>
                <a:sym typeface="+mn-ea"/>
              </a:rPr>
              <a:t>t</a:t>
            </a:r>
            <a:r>
              <a:rPr lang="en-US" sz="2200" strike="sngStrike" spc="-35" dirty="0">
                <a:cs typeface="+mn-lt"/>
                <a:sym typeface="+mn-ea"/>
              </a:rPr>
              <a:t>i</a:t>
            </a:r>
            <a:r>
              <a:rPr lang="en-US" sz="2200" strike="sngStrike" spc="25" dirty="0">
                <a:cs typeface="+mn-lt"/>
                <a:sym typeface="+mn-ea"/>
              </a:rPr>
              <a:t>v</a:t>
            </a:r>
            <a:r>
              <a:rPr lang="en-US" sz="2200" strike="sngStrike" dirty="0">
                <a:cs typeface="+mn-lt"/>
                <a:sym typeface="+mn-ea"/>
              </a:rPr>
              <a:t>es</a:t>
            </a:r>
            <a:endParaRPr lang="en-US" sz="2200" dirty="0">
              <a:cs typeface="+mn-lt"/>
            </a:endParaRPr>
          </a:p>
          <a:p>
            <a:pPr marL="812800" lvl="1" indent="-342900">
              <a:spcBef>
                <a:spcPts val="485"/>
              </a:spcBef>
              <a:buFont typeface="Arial" panose="020B0604020202020204" pitchFamily="34" charset="0"/>
              <a:buChar char="•"/>
              <a:tabLst>
                <a:tab pos="755650" algn="l"/>
                <a:tab pos="756285" algn="l"/>
              </a:tabLst>
            </a:pPr>
            <a:r>
              <a:rPr lang="en-US" sz="2200" strike="sngStrike" spc="-15" dirty="0">
                <a:cs typeface="+mn-lt"/>
                <a:sym typeface="+mn-ea"/>
              </a:rPr>
              <a:t>Market</a:t>
            </a:r>
            <a:r>
              <a:rPr lang="en-US" sz="2200" strike="sngStrike" spc="-75" dirty="0">
                <a:cs typeface="+mn-lt"/>
                <a:sym typeface="+mn-ea"/>
              </a:rPr>
              <a:t> </a:t>
            </a:r>
            <a:r>
              <a:rPr lang="en-US" sz="2200" strike="sngStrike" spc="10" dirty="0">
                <a:cs typeface="+mn-lt"/>
                <a:sym typeface="+mn-ea"/>
              </a:rPr>
              <a:t>Survey</a:t>
            </a:r>
            <a:endParaRPr lang="en-US" sz="2200" dirty="0">
              <a:cs typeface="+mn-lt"/>
            </a:endParaRPr>
          </a:p>
          <a:p>
            <a:pPr marL="812800" lvl="1" indent="-342900">
              <a:spcBef>
                <a:spcPts val="555"/>
              </a:spcBef>
              <a:buFont typeface="Arial" panose="020B0604020202020204" pitchFamily="34" charset="0"/>
              <a:buChar char="•"/>
              <a:tabLst>
                <a:tab pos="755650" algn="l"/>
                <a:tab pos="756285" algn="l"/>
              </a:tabLst>
            </a:pPr>
            <a:r>
              <a:rPr lang="en-US" sz="2200" strike="sngStrike" spc="5" dirty="0">
                <a:cs typeface="+mn-lt"/>
                <a:sym typeface="+mn-ea"/>
              </a:rPr>
              <a:t>Project</a:t>
            </a:r>
            <a:r>
              <a:rPr lang="en-US" sz="2200" strike="sngStrike" spc="-90" dirty="0">
                <a:cs typeface="+mn-lt"/>
                <a:sym typeface="+mn-ea"/>
              </a:rPr>
              <a:t> </a:t>
            </a:r>
            <a:r>
              <a:rPr lang="en-US" sz="2200" strike="sngStrike" dirty="0">
                <a:cs typeface="+mn-lt"/>
                <a:sym typeface="+mn-ea"/>
              </a:rPr>
              <a:t>Requirements</a:t>
            </a:r>
            <a:endParaRPr lang="en-US" sz="2200" dirty="0">
              <a:cs typeface="+mn-lt"/>
            </a:endParaRPr>
          </a:p>
          <a:p>
            <a:pPr marL="1270635" lvl="2" indent="-342900">
              <a:spcBef>
                <a:spcPts val="485"/>
              </a:spcBef>
              <a:buFont typeface="Arial" panose="020B0604020202020204" pitchFamily="34" charset="0"/>
              <a:buChar char="•"/>
              <a:tabLst>
                <a:tab pos="1156335" algn="l"/>
                <a:tab pos="1156970" algn="l"/>
              </a:tabLst>
            </a:pPr>
            <a:r>
              <a:rPr lang="en-US" sz="2200" strike="sngStrike" spc="-5" dirty="0">
                <a:cs typeface="+mn-lt"/>
                <a:sym typeface="+mn-ea"/>
              </a:rPr>
              <a:t> Functional</a:t>
            </a:r>
            <a:endParaRPr lang="en-US" sz="2200" dirty="0">
              <a:cs typeface="+mn-lt"/>
            </a:endParaRPr>
          </a:p>
          <a:p>
            <a:pPr marL="0" indent="0" eaLnBrk="1" hangingPunct="1">
              <a:buNone/>
            </a:pPr>
            <a:endParaRPr lang="en-US" sz="2200" dirty="0">
              <a:cs typeface="+mn-lt"/>
            </a:endParaRPr>
          </a:p>
        </p:txBody>
      </p:sp>
      <p:sp>
        <p:nvSpPr>
          <p:cNvPr id="2" name="Content Placeholder 1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12065" indent="0">
              <a:spcBef>
                <a:spcPts val="655"/>
              </a:spcBef>
              <a:buNone/>
              <a:tabLst>
                <a:tab pos="298450" algn="l"/>
                <a:tab pos="299085" algn="l"/>
              </a:tabLst>
            </a:pPr>
            <a:r>
              <a:rPr lang="en-US" sz="2200" b="1" strike="sngStrike" spc="-15" dirty="0">
                <a:latin typeface="Calibri" panose="020F0502020204030204"/>
                <a:cs typeface="Calibri" panose="020F0502020204030204"/>
                <a:sym typeface="+mn-ea"/>
              </a:rPr>
              <a:t>R</a:t>
            </a:r>
            <a:r>
              <a:rPr lang="en-US" sz="2200" b="1" strike="sngStrike" dirty="0">
                <a:latin typeface="Calibri" panose="020F0502020204030204"/>
                <a:cs typeface="Calibri" panose="020F0502020204030204"/>
                <a:sym typeface="+mn-ea"/>
              </a:rPr>
              <a:t>e</a:t>
            </a:r>
            <a:r>
              <a:rPr lang="en-US" sz="2200" b="1" strike="sngStrike" spc="25" dirty="0">
                <a:latin typeface="Calibri" panose="020F0502020204030204"/>
                <a:cs typeface="Calibri" panose="020F0502020204030204"/>
                <a:sym typeface="+mn-ea"/>
              </a:rPr>
              <a:t>q</a:t>
            </a:r>
            <a:r>
              <a:rPr lang="en-US" sz="2200" b="1" strike="sngStrike" spc="20" dirty="0">
                <a:latin typeface="Calibri" panose="020F0502020204030204"/>
                <a:cs typeface="Calibri" panose="020F0502020204030204"/>
                <a:sym typeface="+mn-ea"/>
              </a:rPr>
              <a:t>u</a:t>
            </a:r>
            <a:r>
              <a:rPr lang="en-US" sz="2200" b="1" strike="sngStrike" spc="-35" dirty="0">
                <a:latin typeface="Calibri" panose="020F0502020204030204"/>
                <a:cs typeface="Calibri" panose="020F0502020204030204"/>
                <a:sym typeface="+mn-ea"/>
              </a:rPr>
              <a:t>i</a:t>
            </a:r>
            <a:r>
              <a:rPr lang="en-US" sz="2200" b="1" strike="sngStrike" spc="15" dirty="0">
                <a:latin typeface="Calibri" panose="020F0502020204030204"/>
                <a:cs typeface="Calibri" panose="020F0502020204030204"/>
                <a:sym typeface="+mn-ea"/>
              </a:rPr>
              <a:t>r</a:t>
            </a:r>
            <a:r>
              <a:rPr lang="en-US" sz="2200" b="1" strike="sngStrike" dirty="0">
                <a:latin typeface="Calibri" panose="020F0502020204030204"/>
                <a:cs typeface="Calibri" panose="020F0502020204030204"/>
                <a:sym typeface="+mn-ea"/>
              </a:rPr>
              <a:t>e</a:t>
            </a:r>
            <a:r>
              <a:rPr lang="en-US" sz="2200" b="1" strike="sngStrike" spc="-25" dirty="0">
                <a:latin typeface="Calibri" panose="020F0502020204030204"/>
                <a:cs typeface="Calibri" panose="020F0502020204030204"/>
                <a:sym typeface="+mn-ea"/>
              </a:rPr>
              <a:t>m</a:t>
            </a:r>
            <a:r>
              <a:rPr lang="en-US" sz="2200" b="1" strike="sngStrike" dirty="0">
                <a:latin typeface="Calibri" panose="020F0502020204030204"/>
                <a:cs typeface="Calibri" panose="020F0502020204030204"/>
                <a:sym typeface="+mn-ea"/>
              </a:rPr>
              <a:t>e</a:t>
            </a:r>
            <a:r>
              <a:rPr lang="en-US" sz="2200" b="1" strike="sngStrike" spc="25" dirty="0">
                <a:latin typeface="Calibri" panose="020F0502020204030204"/>
                <a:cs typeface="Calibri" panose="020F0502020204030204"/>
                <a:sym typeface="+mn-ea"/>
              </a:rPr>
              <a:t>n</a:t>
            </a:r>
            <a:r>
              <a:rPr lang="en-US" sz="2200" b="1" strike="sngStrike" dirty="0">
                <a:latin typeface="Calibri" panose="020F0502020204030204"/>
                <a:cs typeface="Calibri" panose="020F0502020204030204"/>
                <a:sym typeface="+mn-ea"/>
              </a:rPr>
              <a:t>t</a:t>
            </a:r>
            <a:r>
              <a:rPr lang="en-US" sz="2200" b="1" strike="sngStrike" spc="-130" dirty="0">
                <a:latin typeface="Calibri" panose="020F0502020204030204"/>
                <a:cs typeface="Calibri" panose="020F0502020204030204"/>
                <a:sym typeface="+mn-ea"/>
              </a:rPr>
              <a:t> </a:t>
            </a:r>
            <a:r>
              <a:rPr lang="en-US" sz="2200" b="1" strike="sngStrike" spc="-15" dirty="0">
                <a:latin typeface="Calibri" panose="020F0502020204030204"/>
                <a:cs typeface="Calibri" panose="020F0502020204030204"/>
                <a:sym typeface="+mn-ea"/>
              </a:rPr>
              <a:t>A</a:t>
            </a:r>
            <a:r>
              <a:rPr lang="en-US" sz="2200" b="1" strike="sngStrike" spc="20" dirty="0">
                <a:latin typeface="Calibri" panose="020F0502020204030204"/>
                <a:cs typeface="Calibri" panose="020F0502020204030204"/>
                <a:sym typeface="+mn-ea"/>
              </a:rPr>
              <a:t>n</a:t>
            </a:r>
            <a:r>
              <a:rPr lang="en-US" sz="2200" b="1" strike="sngStrike" spc="-30" dirty="0">
                <a:latin typeface="Calibri" panose="020F0502020204030204"/>
                <a:cs typeface="Calibri" panose="020F0502020204030204"/>
                <a:sym typeface="+mn-ea"/>
              </a:rPr>
              <a:t>a</a:t>
            </a:r>
            <a:r>
              <a:rPr lang="en-US" sz="2200" b="1" strike="sngStrike" spc="-35" dirty="0">
                <a:latin typeface="Calibri" panose="020F0502020204030204"/>
                <a:cs typeface="Calibri" panose="020F0502020204030204"/>
                <a:sym typeface="+mn-ea"/>
              </a:rPr>
              <a:t>l</a:t>
            </a:r>
            <a:r>
              <a:rPr lang="en-US" sz="2200" b="1" strike="sngStrike" spc="20" dirty="0">
                <a:latin typeface="Calibri" panose="020F0502020204030204"/>
                <a:cs typeface="Calibri" panose="020F0502020204030204"/>
                <a:sym typeface="+mn-ea"/>
              </a:rPr>
              <a:t>y</a:t>
            </a:r>
            <a:r>
              <a:rPr lang="en-US" sz="2200" b="1" strike="sngStrike" spc="-5" dirty="0">
                <a:latin typeface="Calibri" panose="020F0502020204030204"/>
                <a:cs typeface="Calibri" panose="020F0502020204030204"/>
                <a:sym typeface="+mn-ea"/>
              </a:rPr>
              <a:t>s</a:t>
            </a:r>
            <a:r>
              <a:rPr lang="en-US" sz="2200" b="1" strike="sngStrike" spc="-30" dirty="0">
                <a:latin typeface="Calibri" panose="020F0502020204030204"/>
                <a:cs typeface="Calibri" panose="020F0502020204030204"/>
                <a:sym typeface="+mn-ea"/>
              </a:rPr>
              <a:t>i</a:t>
            </a:r>
            <a:r>
              <a:rPr lang="en-US" sz="2200" b="1" strike="sngStrike" dirty="0">
                <a:latin typeface="Calibri" panose="020F0502020204030204"/>
                <a:cs typeface="Calibri" panose="020F0502020204030204"/>
                <a:sym typeface="+mn-ea"/>
              </a:rPr>
              <a:t>s</a:t>
            </a:r>
            <a:endParaRPr lang="en-US" sz="2200" b="1" dirty="0">
              <a:latin typeface="Calibri" panose="020F0502020204030204"/>
              <a:cs typeface="Calibri" panose="020F0502020204030204"/>
            </a:endParaRPr>
          </a:p>
          <a:p>
            <a:pPr marL="12065" indent="0">
              <a:spcBef>
                <a:spcPts val="555"/>
              </a:spcBef>
              <a:buNone/>
              <a:tabLst>
                <a:tab pos="298450" algn="l"/>
                <a:tab pos="299085" algn="l"/>
              </a:tabLst>
            </a:pPr>
            <a:r>
              <a:rPr lang="en-US" sz="2200" b="1" spc="-5" dirty="0">
                <a:latin typeface="Calibri" panose="020F0502020204030204"/>
                <a:cs typeface="Calibri" panose="020F0502020204030204"/>
                <a:sym typeface="+mn-ea"/>
              </a:rPr>
              <a:t>Designs</a:t>
            </a:r>
            <a:endParaRPr lang="en-US" sz="2200" b="1" dirty="0">
              <a:latin typeface="Calibri" panose="020F0502020204030204"/>
              <a:cs typeface="Calibri" panose="020F0502020204030204"/>
            </a:endParaRPr>
          </a:p>
          <a:p>
            <a:pPr marL="812165" lvl="1" indent="-342900">
              <a:spcBef>
                <a:spcPts val="485"/>
              </a:spcBef>
              <a:buFont typeface="Arial" panose="020B0604020202020204" pitchFamily="34" charset="0"/>
              <a:buChar char="•"/>
              <a:tabLst>
                <a:tab pos="699135" algn="l"/>
                <a:tab pos="699770" algn="l"/>
              </a:tabLst>
            </a:pPr>
            <a:r>
              <a:rPr lang="en-US" sz="2200" strike="sngStrike" spc="-20" dirty="0">
                <a:latin typeface="Calibri" panose="020F0502020204030204"/>
                <a:cs typeface="Calibri" panose="020F0502020204030204"/>
                <a:sym typeface="+mn-ea"/>
              </a:rPr>
              <a:t>A</a:t>
            </a:r>
            <a:r>
              <a:rPr lang="en-US" sz="2200" strike="sngStrike" spc="15" dirty="0">
                <a:latin typeface="Calibri" panose="020F0502020204030204"/>
                <a:cs typeface="Calibri" panose="020F0502020204030204"/>
                <a:sym typeface="+mn-ea"/>
              </a:rPr>
              <a:t>r</a:t>
            </a:r>
            <a:r>
              <a:rPr lang="en-US" sz="2200" strike="sngStrike" spc="5" dirty="0">
                <a:latin typeface="Calibri" panose="020F0502020204030204"/>
                <a:cs typeface="Calibri" panose="020F0502020204030204"/>
                <a:sym typeface="+mn-ea"/>
              </a:rPr>
              <a:t>c</a:t>
            </a:r>
            <a:r>
              <a:rPr lang="en-US" sz="2200" strike="sngStrike" spc="15" dirty="0">
                <a:latin typeface="Calibri" panose="020F0502020204030204"/>
                <a:cs typeface="Calibri" panose="020F0502020204030204"/>
                <a:sym typeface="+mn-ea"/>
              </a:rPr>
              <a:t>h</a:t>
            </a:r>
            <a:r>
              <a:rPr lang="en-US" sz="2200" strike="sngStrike" spc="-35" dirty="0">
                <a:latin typeface="Calibri" panose="020F0502020204030204"/>
                <a:cs typeface="Calibri" panose="020F0502020204030204"/>
                <a:sym typeface="+mn-ea"/>
              </a:rPr>
              <a:t>i</a:t>
            </a:r>
            <a:r>
              <a:rPr lang="en-US" sz="2200" strike="sngStrike" spc="-30" dirty="0">
                <a:latin typeface="Calibri" panose="020F0502020204030204"/>
                <a:cs typeface="Calibri" panose="020F0502020204030204"/>
                <a:sym typeface="+mn-ea"/>
              </a:rPr>
              <a:t>t</a:t>
            </a:r>
            <a:r>
              <a:rPr lang="en-US" sz="2200" strike="sngStrike" dirty="0">
                <a:latin typeface="Calibri" panose="020F0502020204030204"/>
                <a:cs typeface="Calibri" panose="020F0502020204030204"/>
                <a:sym typeface="+mn-ea"/>
              </a:rPr>
              <a:t>e</a:t>
            </a:r>
            <a:r>
              <a:rPr lang="en-US" sz="2200" strike="sngStrike" spc="10" dirty="0">
                <a:latin typeface="Calibri" panose="020F0502020204030204"/>
                <a:cs typeface="Calibri" panose="020F0502020204030204"/>
                <a:sym typeface="+mn-ea"/>
              </a:rPr>
              <a:t>c</a:t>
            </a:r>
            <a:r>
              <a:rPr lang="en-US" sz="2200" strike="sngStrike" spc="-30" dirty="0">
                <a:latin typeface="Calibri" panose="020F0502020204030204"/>
                <a:cs typeface="Calibri" panose="020F0502020204030204"/>
                <a:sym typeface="+mn-ea"/>
              </a:rPr>
              <a:t>t</a:t>
            </a:r>
            <a:r>
              <a:rPr lang="en-US" sz="2200" strike="sngStrike" spc="15" dirty="0">
                <a:latin typeface="Calibri" panose="020F0502020204030204"/>
                <a:cs typeface="Calibri" panose="020F0502020204030204"/>
                <a:sym typeface="+mn-ea"/>
              </a:rPr>
              <a:t>ur</a:t>
            </a:r>
            <a:r>
              <a:rPr lang="en-US" sz="2200" strike="sngStrike" dirty="0">
                <a:latin typeface="Calibri" panose="020F0502020204030204"/>
                <a:cs typeface="Calibri" panose="020F0502020204030204"/>
                <a:sym typeface="+mn-ea"/>
              </a:rPr>
              <a:t>e</a:t>
            </a:r>
            <a:r>
              <a:rPr lang="en-US" sz="2200" strike="sngStrike" spc="-95" dirty="0">
                <a:latin typeface="Calibri" panose="020F0502020204030204"/>
                <a:cs typeface="Calibri" panose="020F0502020204030204"/>
                <a:sym typeface="+mn-ea"/>
              </a:rPr>
              <a:t> </a:t>
            </a:r>
            <a:r>
              <a:rPr lang="en-US" sz="2200" strike="sngStrike" spc="-20" dirty="0">
                <a:latin typeface="Calibri" panose="020F0502020204030204"/>
                <a:cs typeface="Calibri" panose="020F0502020204030204"/>
                <a:sym typeface="+mn-ea"/>
              </a:rPr>
              <a:t>D</a:t>
            </a:r>
            <a:r>
              <a:rPr lang="en-US" sz="2200" strike="sngStrike" dirty="0">
                <a:latin typeface="Calibri" panose="020F0502020204030204"/>
                <a:cs typeface="Calibri" panose="020F0502020204030204"/>
                <a:sym typeface="+mn-ea"/>
              </a:rPr>
              <a:t>es</a:t>
            </a:r>
            <a:r>
              <a:rPr lang="en-US" sz="2200" strike="sngStrike" spc="-30" dirty="0">
                <a:latin typeface="Calibri" panose="020F0502020204030204"/>
                <a:cs typeface="Calibri" panose="020F0502020204030204"/>
                <a:sym typeface="+mn-ea"/>
              </a:rPr>
              <a:t>i</a:t>
            </a:r>
            <a:r>
              <a:rPr lang="en-US" sz="2200" strike="sngStrike" spc="-15" dirty="0">
                <a:latin typeface="Calibri" panose="020F0502020204030204"/>
                <a:cs typeface="Calibri" panose="020F0502020204030204"/>
                <a:sym typeface="+mn-ea"/>
              </a:rPr>
              <a:t>g</a:t>
            </a:r>
            <a:r>
              <a:rPr lang="en-US" sz="2200" strike="sngStrike" dirty="0">
                <a:latin typeface="Calibri" panose="020F0502020204030204"/>
                <a:cs typeface="Calibri" panose="020F0502020204030204"/>
                <a:sym typeface="+mn-ea"/>
              </a:rPr>
              <a:t>n</a:t>
            </a:r>
            <a:endParaRPr lang="en-US" sz="2200" dirty="0">
              <a:latin typeface="Calibri" panose="020F0502020204030204"/>
              <a:cs typeface="Calibri" panose="020F0502020204030204"/>
            </a:endParaRPr>
          </a:p>
          <a:p>
            <a:pPr marL="812165" lvl="1" indent="-342900">
              <a:spcBef>
                <a:spcPts val="560"/>
              </a:spcBef>
              <a:buFont typeface="Arial" panose="020B0604020202020204" pitchFamily="34" charset="0"/>
              <a:buChar char="•"/>
              <a:tabLst>
                <a:tab pos="699135" algn="l"/>
                <a:tab pos="699770" algn="l"/>
              </a:tabLst>
            </a:pPr>
            <a:r>
              <a:rPr lang="en-US" sz="2200" strike="sngStrike" spc="-15" dirty="0">
                <a:latin typeface="Calibri" panose="020F0502020204030204"/>
                <a:cs typeface="Calibri" panose="020F0502020204030204"/>
                <a:sym typeface="+mn-ea"/>
              </a:rPr>
              <a:t>Activity</a:t>
            </a:r>
            <a:r>
              <a:rPr lang="en-US" sz="2200" strike="sngStrike" spc="50" dirty="0">
                <a:latin typeface="Calibri" panose="020F0502020204030204"/>
                <a:cs typeface="Calibri" panose="020F0502020204030204"/>
                <a:sym typeface="+mn-ea"/>
              </a:rPr>
              <a:t> </a:t>
            </a:r>
            <a:r>
              <a:rPr lang="en-US" sz="2200" strike="sngStrike" spc="-30" dirty="0">
                <a:latin typeface="Calibri" panose="020F0502020204030204"/>
                <a:cs typeface="Calibri" panose="020F0502020204030204"/>
                <a:sym typeface="+mn-ea"/>
              </a:rPr>
              <a:t>Diagrams</a:t>
            </a:r>
            <a:endParaRPr lang="en-US" sz="2200" dirty="0">
              <a:latin typeface="Calibri" panose="020F0502020204030204"/>
              <a:cs typeface="Calibri" panose="020F0502020204030204"/>
            </a:endParaRPr>
          </a:p>
          <a:p>
            <a:pPr marL="812165" lvl="1" indent="-342900">
              <a:spcBef>
                <a:spcPts val="485"/>
              </a:spcBef>
              <a:buFont typeface="Arial" panose="020B0604020202020204" pitchFamily="34" charset="0"/>
              <a:buChar char="•"/>
              <a:tabLst>
                <a:tab pos="699135" algn="l"/>
                <a:tab pos="699770" algn="l"/>
              </a:tabLst>
            </a:pPr>
            <a:r>
              <a:rPr lang="en-US" sz="2200" strike="sngStrike" dirty="0">
                <a:latin typeface="Calibri" panose="020F0502020204030204"/>
                <a:cs typeface="Calibri" panose="020F0502020204030204"/>
                <a:sym typeface="+mn-ea"/>
              </a:rPr>
              <a:t>Use</a:t>
            </a:r>
            <a:r>
              <a:rPr lang="en-US" sz="2200" strike="sngStrike" spc="-40" dirty="0">
                <a:latin typeface="Calibri" panose="020F0502020204030204"/>
                <a:cs typeface="Calibri" panose="020F0502020204030204"/>
                <a:sym typeface="+mn-ea"/>
              </a:rPr>
              <a:t> </a:t>
            </a:r>
            <a:r>
              <a:rPr lang="en-US" sz="2200" strike="sngStrike" spc="-10" dirty="0">
                <a:latin typeface="Calibri" panose="020F0502020204030204"/>
                <a:cs typeface="Calibri" panose="020F0502020204030204"/>
                <a:sym typeface="+mn-ea"/>
              </a:rPr>
              <a:t>Case</a:t>
            </a:r>
            <a:r>
              <a:rPr lang="en-US" sz="2200" strike="sngStrike" spc="35" dirty="0">
                <a:latin typeface="Calibri" panose="020F0502020204030204"/>
                <a:cs typeface="Calibri" panose="020F0502020204030204"/>
                <a:sym typeface="+mn-ea"/>
              </a:rPr>
              <a:t> </a:t>
            </a:r>
            <a:r>
              <a:rPr lang="en-US" sz="2200" strike="sngStrike" spc="-30" dirty="0">
                <a:latin typeface="Calibri" panose="020F0502020204030204"/>
                <a:cs typeface="Calibri" panose="020F0502020204030204"/>
                <a:sym typeface="+mn-ea"/>
              </a:rPr>
              <a:t>Diagrams</a:t>
            </a:r>
            <a:endParaRPr lang="en-US" sz="2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dirty="0"/>
              <a:t>Prototype &amp; Report</a:t>
            </a:r>
            <a:endParaRPr lang="en-US" dirty="0"/>
          </a:p>
        </p:txBody>
      </p:sp>
      <p:sp>
        <p:nvSpPr>
          <p:cNvPr id="12291" name="Text Placeholder 4"/>
          <p:cNvSpPr>
            <a:spLocks noGrp="1"/>
          </p:cNvSpPr>
          <p:nvPr>
            <p:ph type="body" idx="1"/>
          </p:nvPr>
        </p:nvSpPr>
        <p:spPr/>
        <p:txBody>
          <a:bodyPr rtlCol="0">
            <a:normAutofit/>
          </a:bodyPr>
          <a:lstStyle/>
          <a:p>
            <a:pPr marL="44450" eaLnBrk="1" fontAlgn="auto" hangingPunct="1">
              <a:spcAft>
                <a:spcPts val="0"/>
              </a:spcAft>
              <a:buFont typeface="Arial" panose="020B0604020202020204" pitchFamily="34" charset="0"/>
              <a:buNone/>
              <a:defRPr/>
            </a:pPr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Prototype</a:t>
            </a:r>
            <a:endParaRPr lang="en-US" dirty="0"/>
          </a:p>
        </p:txBody>
      </p:sp>
      <p:sp>
        <p:nvSpPr>
          <p:cNvPr id="1024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Report</a:t>
            </a:r>
            <a:endParaRPr lang="en-US" dirty="0"/>
          </a:p>
        </p:txBody>
      </p:sp>
      <p:sp>
        <p:nvSpPr>
          <p:cNvPr id="1024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dirty="0"/>
              <a:t>Chapter 1: Introduction</a:t>
            </a:r>
            <a:endParaRPr lang="en-US" dirty="0"/>
          </a:p>
          <a:p>
            <a:pPr eaLnBrk="1" hangingPunct="1"/>
            <a:r>
              <a:rPr lang="en-US" dirty="0"/>
              <a:t>Chapter 2: Literature / Market Survey</a:t>
            </a:r>
            <a:endParaRPr lang="en-US" dirty="0"/>
          </a:p>
          <a:p>
            <a:pPr eaLnBrk="1" hangingPunct="1"/>
            <a:r>
              <a:rPr lang="en-US" dirty="0"/>
              <a:t>Chapter 3: Requirement Analysis</a:t>
            </a:r>
            <a:endParaRPr lang="en-US" dirty="0"/>
          </a:p>
          <a:p>
            <a:pPr eaLnBrk="1" hangingPunct="1"/>
            <a:r>
              <a:rPr lang="en-US" dirty="0"/>
              <a:t>Chapter 4: System Design</a:t>
            </a:r>
            <a:endParaRPr lang="en-US" dirty="0"/>
          </a:p>
          <a:p>
            <a:pPr eaLnBrk="1" hangingPunct="1"/>
            <a:r>
              <a:rPr lang="en-US" dirty="0"/>
              <a:t>Chapter 5: Implementation</a:t>
            </a:r>
            <a:endParaRPr lang="en-US" dirty="0"/>
          </a:p>
          <a:p>
            <a:pPr eaLnBrk="1" hangingPunct="1"/>
            <a:r>
              <a:rPr lang="en-US" dirty="0"/>
              <a:t>Chapter 6: Testing &amp; Evaluations</a:t>
            </a:r>
            <a:endParaRPr lang="en-US" dirty="0"/>
          </a:p>
          <a:p>
            <a:pPr eaLnBrk="1" hangingPunct="1"/>
            <a:r>
              <a:rPr lang="en-US" dirty="0"/>
              <a:t>Chapter 7: Conclusion &amp; Outlook</a:t>
            </a:r>
            <a:endParaRPr 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2953</Words>
  <Application>WPS Presentation</Application>
  <PresentationFormat>On-screen Show (4:3)</PresentationFormat>
  <Paragraphs>159</Paragraphs>
  <Slides>19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19</vt:i4>
      </vt:variant>
    </vt:vector>
  </HeadingPairs>
  <TitlesOfParts>
    <vt:vector size="28" baseType="lpstr">
      <vt:lpstr>Arial</vt:lpstr>
      <vt:lpstr>SimSun</vt:lpstr>
      <vt:lpstr>Wingdings</vt:lpstr>
      <vt:lpstr>Calibri</vt:lpstr>
      <vt:lpstr>Times New Roman</vt:lpstr>
      <vt:lpstr>Microsoft YaHei</vt:lpstr>
      <vt:lpstr>Arial Unicode MS</vt:lpstr>
      <vt:lpstr>Calibri</vt:lpstr>
      <vt:lpstr>Office Theme</vt:lpstr>
      <vt:lpstr>Final Year Project</vt:lpstr>
      <vt:lpstr>Project Team</vt:lpstr>
      <vt:lpstr>Table of Content</vt:lpstr>
      <vt:lpstr>Opportunity &amp; Stakeholders</vt:lpstr>
      <vt:lpstr>Opportunity </vt:lpstr>
      <vt:lpstr>Stakeholders</vt:lpstr>
      <vt:lpstr>Solution</vt:lpstr>
      <vt:lpstr>PROGRESS REPORT Summary</vt:lpstr>
      <vt:lpstr>Requirements</vt:lpstr>
      <vt:lpstr>Design</vt:lpstr>
      <vt:lpstr>Implementation</vt:lpstr>
      <vt:lpstr>Implementation</vt:lpstr>
      <vt:lpstr>Endeavour</vt:lpstr>
      <vt:lpstr>Endeavour</vt:lpstr>
      <vt:lpstr>Endeavour</vt:lpstr>
      <vt:lpstr>Work Breakdown Structure (List of all Deliverables / Strikethrough Completed Deliverables)</vt:lpstr>
      <vt:lpstr>Prototype &amp; Report</vt:lpstr>
      <vt:lpstr>Prototype</vt:lpstr>
      <vt:lpstr>Report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Final Year Project Proposal</dc:title>
  <dc:creator>Khan</dc:creator>
  <cp:lastModifiedBy>adil javed</cp:lastModifiedBy>
  <cp:revision>45</cp:revision>
  <dcterms:created xsi:type="dcterms:W3CDTF">2013-01-22T07:04:00Z</dcterms:created>
  <dcterms:modified xsi:type="dcterms:W3CDTF">2025-06-22T20:56:19Z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4EF9F9F198F040668C5B097E96F670A4_12</vt:lpwstr>
  </property>
  <property fmtid="{D5CDD505-2E9C-101B-9397-08002B2CF9AE}" pid="3" name="KSOProductBuildVer">
    <vt:lpwstr>1033-12.2.0.21546</vt:lpwstr>
  </property>
</Properties>
</file>