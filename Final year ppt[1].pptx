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84" r:id="rId7"/>
    <p:sldId id="269" r:id="rId8"/>
    <p:sldId id="261" r:id="rId9"/>
    <p:sldId id="271" r:id="rId10"/>
    <p:sldId id="279" r:id="rId11"/>
    <p:sldId id="274" r:id="rId12"/>
    <p:sldId id="285" r:id="rId13"/>
    <p:sldId id="263" r:id="rId14"/>
    <p:sldId id="282" r:id="rId15"/>
    <p:sldId id="286" r:id="rId16"/>
    <p:sldId id="275" r:id="rId17"/>
    <p:sldId id="277" r:id="rId18"/>
    <p:sldId id="276" r:id="rId19"/>
    <p:sldId id="278" r:id="rId20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4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8" d="100"/>
          <a:sy n="78" d="100"/>
        </p:scale>
        <p:origin x="1594" y="62"/>
      </p:cViewPr>
      <p:guideLst>
        <p:guide orient="horz" pos="214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2D5EA8C-31D8-4AE2-B882-84C84F479477}" type="datetimeFigureOut">
              <a:rPr lang="en-US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1F5670-D3F4-45C7-B985-727ECBBC4E3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9CD17A-954D-467D-91A5-E7BCAA89A8CF}" type="datetimeFigureOut">
              <a:rPr lang="en-US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3E33BD-E18E-4BE1-9714-EE428238917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7D8F27-B1E0-4579-A0D4-F4DE761D87B0}" type="datetimeFigureOut">
              <a:rPr lang="en-US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94A030-EF6A-4762-B30C-DE8655F57C1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E9A495-73A6-4F65-8AAC-5D89FFE343E7}" type="datetimeFigureOut">
              <a:rPr lang="en-US"/>
              <a:t>11/25/2025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67087B-68C8-47F2-B5D0-EF32CB23F86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590D62-48B1-4815-B83E-6D1A5DC794AF}" type="datetimeFigureOut">
              <a:rPr lang="en-US"/>
              <a:t>11/25/2025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497330-42CC-42AC-87F9-5A3675C691E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D49768-A570-41B7-95C0-54055C4A81EA}" type="datetimeFigureOut">
              <a:rPr lang="en-US"/>
              <a:t>11/25/2025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6CAFDE-0C38-456D-B802-21864C3F830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923B2D8-3E52-4F62-9DC4-54C38533946B}" type="datetimeFigureOut">
              <a:rPr lang="en-US"/>
              <a:t>11/25/2025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B0D651-56A8-4CE0-9D94-65BDDFDEBFA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B30D5C-5BFF-46B6-BA99-36AC4468BF79}" type="datetimeFigureOut">
              <a:rPr lang="en-US"/>
              <a:t>11/25/2025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17F8457-8BC5-42F4-9665-36B7DF8528E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9CFCE-761F-40B2-848A-CB9D594FBAFC}" type="datetimeFigureOut">
              <a:rPr lang="en-US"/>
              <a:t>11/25/2025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70734B-61FB-498A-8F45-B91ADB27494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876BE-1A06-47CE-A4A2-6C5C1D1C326F}" type="datetimeFigureOut">
              <a:rPr lang="en-US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E3F1DD-6A4D-4A6A-9723-33B3A792EBB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CE2D721-3603-4DC2-ACAB-C8C719AFE1B1}" type="datetimeFigureOut">
              <a:rPr lang="en-US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1A63DAF-319D-456B-AC92-51897CFD44F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00E64A2-E0A4-4DC6-9829-7CF64BBF5B65}" type="datetimeFigureOut">
              <a:rPr lang="en-US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6E01495-F694-4C46-966A-5FC739EB7C9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 l="-5000" r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Final Year Project</a:t>
            </a:r>
          </a:p>
        </p:txBody>
      </p:sp>
      <p:sp>
        <p:nvSpPr>
          <p:cNvPr id="512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pPr marL="6350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dirty="0">
                <a:sym typeface="+mn-ea"/>
              </a:rPr>
              <a:t>Skill Link</a:t>
            </a:r>
          </a:p>
          <a:p>
            <a:pPr marL="6350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400" dirty="0"/>
              <a:t>Supervised By:Mr Muhammad Nadeem Khan</a:t>
            </a:r>
          </a:p>
        </p:txBody>
      </p:sp>
      <p:pic>
        <p:nvPicPr>
          <p:cNvPr id="2052" name="Picture 3" descr="Riphah.jp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33" t="4065" r="6926" b="4926"/>
          <a:stretch>
            <a:fillRect/>
          </a:stretch>
        </p:blipFill>
        <p:spPr bwMode="auto">
          <a:xfrm>
            <a:off x="4076700" y="1295400"/>
            <a:ext cx="9906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Project Team</a:t>
            </a:r>
          </a:p>
        </p:txBody>
      </p:sp>
      <p:sp>
        <p:nvSpPr>
          <p:cNvPr id="30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/>
              <a:t>Sana Ullah 13328</a:t>
            </a:r>
          </a:p>
          <a:p>
            <a:pPr eaLnBrk="1" hangingPunct="1"/>
            <a:r>
              <a:rPr lang="en-US"/>
              <a:t>Hammad Javed 26693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of Content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800" dirty="0"/>
              <a:t>Opportunity &amp; Stakeholders </a:t>
            </a:r>
          </a:p>
          <a:p>
            <a:pPr eaLnBrk="1" hangingPunct="1"/>
            <a:r>
              <a:rPr lang="en-US" sz="2800" dirty="0"/>
              <a:t>Solution</a:t>
            </a:r>
          </a:p>
          <a:p>
            <a:pPr eaLnBrk="1" hangingPunct="1"/>
            <a:r>
              <a:rPr lang="en-US" sz="2800" dirty="0"/>
              <a:t>Progress Report Summary</a:t>
            </a:r>
          </a:p>
          <a:p>
            <a:pPr lvl="1" eaLnBrk="1" hangingPunct="1"/>
            <a:r>
              <a:rPr lang="en-US" sz="2400" dirty="0"/>
              <a:t>Requirements</a:t>
            </a:r>
          </a:p>
          <a:p>
            <a:pPr lvl="1" eaLnBrk="1" hangingPunct="1"/>
            <a:r>
              <a:rPr lang="en-US" sz="2400" dirty="0"/>
              <a:t>Software System (Design + Implementation + Testing)</a:t>
            </a:r>
          </a:p>
          <a:p>
            <a:pPr lvl="1" eaLnBrk="1" hangingPunct="1"/>
            <a:r>
              <a:rPr lang="en-US" sz="2400" dirty="0"/>
              <a:t>Endeavour (Team + Work + Way of Working)</a:t>
            </a:r>
          </a:p>
          <a:p>
            <a:pPr eaLnBrk="1" hangingPunct="1"/>
            <a:r>
              <a:rPr lang="en-US" sz="2800" dirty="0"/>
              <a:t>Next Steps</a:t>
            </a:r>
          </a:p>
          <a:p>
            <a:pPr eaLnBrk="1" hangingPunct="1"/>
            <a:r>
              <a:rPr lang="en-US" sz="2800" dirty="0"/>
              <a:t>Prototype /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Opportunity &amp; Stakeholders</a:t>
            </a:r>
          </a:p>
        </p:txBody>
      </p:sp>
      <p:sp>
        <p:nvSpPr>
          <p:cNvPr id="8195" name="Text Placeholder 4"/>
          <p:cNvSpPr>
            <a:spLocks noGrp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4445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Opportunity 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4525963"/>
          </a:xfrm>
        </p:spPr>
        <p:txBody>
          <a:bodyPr/>
          <a:lstStyle/>
          <a:p>
            <a:pPr marL="0" indent="0" algn="just" eaLnBrk="1" hangingPunct="1">
              <a:buNone/>
            </a:pPr>
            <a:r>
              <a:rPr lang="en-US" altLang="en-US" sz="2400" b="1" dirty="0"/>
              <a:t>Hard to Find Good Workers</a:t>
            </a:r>
          </a:p>
          <a:p>
            <a:pPr algn="just" eaLnBrk="1" hangingPunct="1"/>
            <a:r>
              <a:rPr lang="en-US" altLang="en-US" sz="2400" dirty="0"/>
              <a:t>People often struggle to find reliable and skilled workers like plumbers or electricians. Many times, they don't know who to trust or where to look.</a:t>
            </a:r>
          </a:p>
          <a:p>
            <a:pPr marL="0" indent="0" algn="just" eaLnBrk="1" hangingPunct="1">
              <a:buNone/>
            </a:pPr>
            <a:r>
              <a:rPr lang="en-US" altLang="en-US" sz="2400" b="1" dirty="0"/>
              <a:t>Takes Too Much Time</a:t>
            </a:r>
          </a:p>
          <a:p>
            <a:pPr algn="just" eaLnBrk="1" hangingPunct="1"/>
            <a:r>
              <a:rPr lang="en-US" altLang="en-US" sz="2400" dirty="0"/>
              <a:t>Searching for a worker, calling around, and comparing prices or availability can waste a lot of time and effort for both customers and workers.</a:t>
            </a:r>
          </a:p>
          <a:p>
            <a:pPr marL="0" indent="0" algn="just" eaLnBrk="1" hangingPunct="1">
              <a:buNone/>
            </a:pPr>
            <a:r>
              <a:rPr lang="en-US" altLang="en-US" sz="2400" b="1" dirty="0"/>
              <a:t>Help Needed in Emergencies</a:t>
            </a:r>
          </a:p>
          <a:p>
            <a:pPr algn="just" eaLnBrk="1" hangingPunct="1"/>
            <a:r>
              <a:rPr lang="en-US" altLang="en-US" sz="2400" dirty="0"/>
              <a:t>In urgent situations like a gas leak or electrical problem, people need quick help but don’t have a fast way to contact nearby professionals.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Stakeholders</a:t>
            </a:r>
            <a:endParaRPr 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400" b="1" dirty="0">
                <a:sym typeface="+mn-ea"/>
              </a:rPr>
              <a:t>   Customers</a:t>
            </a:r>
            <a:endParaRPr lang="en-US" altLang="en-US" sz="2400" b="1" dirty="0"/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2400" b="1" dirty="0">
                <a:sym typeface="+mn-ea"/>
              </a:rPr>
              <a:t>   Workers(Plumber,Electrician,Cleaner)</a:t>
            </a:r>
            <a:endParaRPr lang="en-US" altLang="en-US" sz="2400" b="1" dirty="0"/>
          </a:p>
          <a:p>
            <a:r>
              <a:rPr lang="en-US" altLang="en-US" sz="2400" b="1" dirty="0">
                <a:sym typeface="+mn-ea"/>
              </a:rPr>
              <a:t>Admin</a:t>
            </a:r>
            <a:endParaRPr lang="en-US"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4525963"/>
          </a:xfrm>
        </p:spPr>
        <p:txBody>
          <a:bodyPr/>
          <a:lstStyle/>
          <a:p>
            <a:pPr marL="0" indent="0" algn="just">
              <a:buNone/>
            </a:pPr>
            <a:r>
              <a:rPr lang="en-US" altLang="en-US" sz="2400"/>
              <a:t>SkillLink is a mobile app that helps people quickly find trusted skilled workers like plumbers, electricians, and house cleaners.</a:t>
            </a:r>
          </a:p>
          <a:p>
            <a:pPr algn="just"/>
            <a:r>
              <a:rPr lang="en-US" altLang="en-US" sz="2400"/>
              <a:t>The app uses real-time location to show nearby workers, so you can get help fast.</a:t>
            </a:r>
          </a:p>
          <a:p>
            <a:pPr algn="just"/>
            <a:r>
              <a:rPr lang="en-US" altLang="en-US" sz="2400"/>
              <a:t>You can check worker profiles book services in this mobile  application.</a:t>
            </a:r>
          </a:p>
          <a:p>
            <a:pPr algn="just"/>
            <a:r>
              <a:rPr lang="en-US" altLang="en-US" sz="2400"/>
              <a:t>Prices are clear and fair, with no hidden charges.</a:t>
            </a:r>
          </a:p>
          <a:p>
            <a:pPr algn="just"/>
            <a:r>
              <a:rPr lang="en-US" altLang="en-US" sz="2400"/>
              <a:t> SkillLink helps you find the right person for the job, even in an emergency.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PROGRESS REPORT</a:t>
            </a:r>
            <a:br>
              <a:rPr lang="en-US" dirty="0"/>
            </a:br>
            <a:r>
              <a:rPr lang="en-US" dirty="0"/>
              <a:t>Summary</a:t>
            </a:r>
          </a:p>
        </p:txBody>
      </p:sp>
      <p:sp>
        <p:nvSpPr>
          <p:cNvPr id="10243" name="Text Placeholder 4"/>
          <p:cNvSpPr>
            <a:spLocks noGrp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4445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2000" b="1" dirty="0">
                <a:cs typeface="+mn-lt"/>
              </a:rPr>
              <a:t>Elicitation Techniques / Tools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2000" b="1" dirty="0">
                <a:cs typeface="+mn-lt"/>
                <a:sym typeface="+mn-ea"/>
              </a:rPr>
              <a:t>Observation</a:t>
            </a:r>
            <a:r>
              <a:rPr lang="en-US" altLang="en-US" sz="2000" b="1" dirty="0">
                <a:cs typeface="+mn-lt"/>
              </a:rPr>
              <a:t>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altLang="en-US" sz="2000" b="1" dirty="0">
                <a:cs typeface="+mn-lt"/>
              </a:rPr>
              <a:t>Brainstorming:</a:t>
            </a:r>
          </a:p>
          <a:p>
            <a:pPr marL="0" indent="0" algn="just">
              <a:buFont typeface="Arial" panose="020B0604020202020204" pitchFamily="34" charset="0"/>
              <a:buNone/>
            </a:pPr>
            <a:r>
              <a:rPr lang="en-US" sz="2000" b="1" dirty="0">
                <a:cs typeface="+mn-lt"/>
                <a:sym typeface="+mn-ea"/>
              </a:rPr>
              <a:t>Functional Requirements</a:t>
            </a:r>
          </a:p>
          <a:p>
            <a:pPr algn="just"/>
            <a:r>
              <a:rPr lang="en-US" sz="2000" b="1" dirty="0">
                <a:cs typeface="+mn-lt"/>
                <a:sym typeface="+mn-ea"/>
              </a:rPr>
              <a:t>Customer</a:t>
            </a:r>
          </a:p>
          <a:p>
            <a:pPr algn="just"/>
            <a:r>
              <a:rPr lang="en-US" sz="2000" b="1" dirty="0">
                <a:cs typeface="+mn-lt"/>
                <a:sym typeface="+mn-ea"/>
              </a:rPr>
              <a:t>Worker</a:t>
            </a:r>
            <a:r>
              <a:rPr lang="en-US" altLang="en-US" sz="2000" b="1" dirty="0">
                <a:sym typeface="+mn-ea"/>
              </a:rPr>
              <a:t>(Plumber,Electrician,Cleaner)</a:t>
            </a:r>
            <a:endParaRPr lang="en-US" sz="2000" b="1" dirty="0">
              <a:cs typeface="+mn-lt"/>
              <a:sym typeface="+mn-ea"/>
            </a:endParaRPr>
          </a:p>
          <a:p>
            <a:pPr algn="just"/>
            <a:r>
              <a:rPr lang="en-US" sz="2000" b="1" dirty="0">
                <a:cs typeface="+mn-lt"/>
                <a:sym typeface="+mn-ea"/>
              </a:rPr>
              <a:t>Admin</a:t>
            </a:r>
          </a:p>
          <a:p>
            <a:pPr marL="0" indent="0" algn="just">
              <a:buNone/>
            </a:pPr>
            <a:r>
              <a:rPr lang="en-US" sz="2000" b="1" dirty="0">
                <a:cs typeface="+mn-lt"/>
                <a:sym typeface="+mn-ea"/>
              </a:rPr>
              <a:t>Non-Functional Requirements:</a:t>
            </a:r>
          </a:p>
          <a:p>
            <a:pPr algn="just"/>
            <a:r>
              <a:rPr lang="en-US" sz="2000" b="1" dirty="0">
                <a:cs typeface="+mn-lt"/>
              </a:rPr>
              <a:t>None</a:t>
            </a:r>
          </a:p>
          <a:p>
            <a:pPr marL="0" indent="0" algn="just">
              <a:buNone/>
            </a:pPr>
            <a:r>
              <a:rPr lang="en-US" sz="2000" b="1" dirty="0">
                <a:cs typeface="+mn-lt"/>
                <a:sym typeface="+mn-ea"/>
              </a:rPr>
              <a:t>Use Cases</a:t>
            </a:r>
            <a:endParaRPr lang="en-US" sz="2000" b="1" dirty="0">
              <a:cs typeface="+mn-lt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en-US" altLang="en-US" sz="2000" dirty="0">
              <a:cs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b="1" dirty="0">
                <a:cs typeface="Times New Roman" panose="02020603050405020304" pitchFamily="18" charset="0"/>
                <a:sym typeface="+mn-ea"/>
              </a:rPr>
              <a:t>Model View Controller Diagram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>
                <a:cs typeface="Times New Roman" panose="02020603050405020304" pitchFamily="18" charset="0"/>
                <a:sym typeface="+mn-ea"/>
              </a:rPr>
              <a:t>Use-Case Diagram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Class Diagram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Activity Diagrams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b="1" dirty="0"/>
              <a:t>Development Diagram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b="1" dirty="0"/>
          </a:p>
          <a:p>
            <a:pPr>
              <a:buFont typeface="Arial" panose="020B0604020202020204" pitchFamily="34" charset="0"/>
              <a:buChar char="•"/>
            </a:pPr>
            <a:endParaRPr lang="en-US" sz="2400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Development Tools &amp; Technologies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753151"/>
              </p:ext>
            </p:extLst>
          </p:nvPr>
        </p:nvGraphicFramePr>
        <p:xfrm>
          <a:off x="914400" y="2133600"/>
          <a:ext cx="6096000" cy="2834640"/>
        </p:xfrm>
        <a:graphic>
          <a:graphicData uri="http://schemas.openxmlformats.org/drawingml/2006/table">
            <a:tbl>
              <a:tblPr firstRow="1" bandRow="1"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84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+mn-lt"/>
                          <a:cs typeface="Times New Roman" panose="02020603050405020304" pitchFamily="18" charset="0"/>
                        </a:rPr>
                        <a:t>Tools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+mn-lt"/>
                          <a:cs typeface="Times New Roman" panose="02020603050405020304" pitchFamily="18" charset="0"/>
                        </a:rPr>
                        <a:t>Technologies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n-US" sz="2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• Visual Studio Code</a:t>
                      </a:r>
                      <a:endParaRPr lang="en-US" sz="2000" b="0" dirty="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rtl="0"/>
                      <a:r>
                        <a:rPr lang="en-US" sz="2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• Andorid Studio</a:t>
                      </a:r>
                      <a:endParaRPr lang="en-US" sz="2000" b="0" dirty="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rtl="0"/>
                      <a:r>
                        <a:rPr lang="en-US" sz="2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• Visual Paradigm</a:t>
                      </a:r>
                      <a:endParaRPr lang="en-US" sz="2000" b="0" dirty="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rtl="0"/>
                      <a:r>
                        <a:rPr lang="en-US" sz="2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• Git &amp; GitHub</a:t>
                      </a:r>
                      <a:endParaRPr lang="en-US" sz="2000" b="0" dirty="0"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rtl="0"/>
                      <a:r>
                        <a:rPr lang="en-US" sz="2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• XAMPP</a:t>
                      </a:r>
                    </a:p>
                    <a:p>
                      <a:r>
                        <a:rPr lang="en-US" sz="1800" dirty="0">
                          <a:effectLst/>
                          <a:latin typeface="+mn-lt"/>
                          <a:cs typeface="Times New Roman" panose="02020603050405020304" pitchFamily="18" charset="0"/>
                          <a:sym typeface="+mn-ea"/>
                        </a:rPr>
                        <a:t>• </a:t>
                      </a:r>
                      <a:r>
                        <a:rPr lang="en-US" sz="2000" b="0" dirty="0">
                          <a:effectLst/>
                          <a:latin typeface="+mn-lt"/>
                          <a:cs typeface="Times New Roman" panose="02020603050405020304" pitchFamily="18" charset="0"/>
                          <a:sym typeface="+mn-ea"/>
                        </a:rPr>
                        <a:t>Canva</a:t>
                      </a: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br>
                        <a:rPr lang="en-US" dirty="0">
                          <a:latin typeface="+mn-lt"/>
                          <a:cs typeface="Times New Roman" panose="02020603050405020304" pitchFamily="18" charset="0"/>
                        </a:rPr>
                      </a:br>
                      <a:endParaRPr lang="en-US" dirty="0"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•        </a:t>
                      </a:r>
                      <a:r>
                        <a:rPr lang="en-US" altLang="en-US" sz="2000" b="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Flutter</a:t>
                      </a:r>
                    </a:p>
                    <a:p>
                      <a:pPr rtl="0"/>
                      <a:r>
                        <a:rPr lang="en-US" sz="2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•        </a:t>
                      </a:r>
                      <a:r>
                        <a:rPr lang="en-US" altLang="en-US" sz="2000" b="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Dart</a:t>
                      </a:r>
                    </a:p>
                    <a:p>
                      <a:r>
                        <a:rPr lang="en-US" sz="20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•        Laravel</a:t>
                      </a:r>
                    </a:p>
                    <a:p>
                      <a:r>
                        <a:rPr lang="en-US" sz="2000" dirty="0">
                          <a:effectLst/>
                          <a:latin typeface="+mn-lt"/>
                          <a:cs typeface="Times New Roman" panose="02020603050405020304" pitchFamily="18" charset="0"/>
                          <a:sym typeface="+mn-ea"/>
                        </a:rPr>
                        <a:t>•        My SQL</a:t>
                      </a:r>
                      <a:endParaRPr lang="en-US" sz="20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endParaRPr lang="en-US" sz="20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endParaRPr lang="en-US" sz="2000" dirty="0"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Implementation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2400" b="1" dirty="0">
                <a:cs typeface="+mn-lt"/>
                <a:sym typeface="+mn-ea"/>
              </a:rPr>
              <a:t>List Best Practices / Coding Standards</a:t>
            </a:r>
            <a:endParaRPr lang="en-US" sz="2400" b="1" dirty="0">
              <a:cs typeface="+mn-lt"/>
            </a:endParaRPr>
          </a:p>
          <a:p>
            <a:pPr marL="0" indent="0" algn="just">
              <a:buNone/>
            </a:pPr>
            <a:r>
              <a:rPr lang="en-US" altLang="en-US" sz="2400" b="1" dirty="0">
                <a:cs typeface="+mn-lt"/>
              </a:rPr>
              <a:t>1. Software Engineering Methodologies</a:t>
            </a:r>
          </a:p>
          <a:p>
            <a:pPr algn="just"/>
            <a:r>
              <a:rPr lang="en-US" altLang="en-US" sz="2400" dirty="0">
                <a:cs typeface="+mn-lt"/>
              </a:rPr>
              <a:t>Agile Methodology</a:t>
            </a:r>
          </a:p>
          <a:p>
            <a:pPr marL="0" indent="0" algn="just">
              <a:buNone/>
            </a:pPr>
            <a:r>
              <a:rPr lang="en-US" altLang="en-US" sz="2400" b="1" dirty="0">
                <a:cs typeface="+mn-lt"/>
              </a:rPr>
              <a:t>2. Coding Standards</a:t>
            </a:r>
          </a:p>
          <a:p>
            <a:pPr algn="just"/>
            <a:r>
              <a:rPr lang="en-US" altLang="en-US" sz="2400" dirty="0">
                <a:cs typeface="+mn-lt"/>
              </a:rPr>
              <a:t>Naming Conventions</a:t>
            </a:r>
          </a:p>
          <a:p>
            <a:pPr algn="just"/>
            <a:r>
              <a:rPr lang="en-US" altLang="en-US" sz="2400" dirty="0">
                <a:cs typeface="+mn-lt"/>
              </a:rPr>
              <a:t>Code Documentation</a:t>
            </a:r>
          </a:p>
          <a:p>
            <a:pPr algn="just"/>
            <a:endParaRPr lang="en-US" altLang="en-US" sz="2400" dirty="0">
              <a:cs typeface="+mn-lt"/>
            </a:endParaRPr>
          </a:p>
          <a:p>
            <a:pPr marL="0" indent="0" algn="just">
              <a:buNone/>
            </a:pPr>
            <a:endParaRPr lang="en-US" altLang="en-US" sz="2400" b="1" dirty="0">
              <a:cs typeface="+mn-lt"/>
            </a:endParaRPr>
          </a:p>
          <a:p>
            <a:pPr algn="just"/>
            <a:endParaRPr lang="en-US" altLang="en-US" sz="2400" b="1" dirty="0">
              <a:cs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Endeavour</a:t>
            </a:r>
          </a:p>
        </p:txBody>
      </p:sp>
      <p:sp>
        <p:nvSpPr>
          <p:cNvPr id="12291" name="Text Placeholder 4"/>
          <p:cNvSpPr>
            <a:spLocks noGrp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4445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Endeavour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b="1" dirty="0">
                <a:cs typeface="+mn-lt"/>
                <a:sym typeface="+mn-ea"/>
              </a:rPr>
              <a:t>Describe roles of your team members</a:t>
            </a:r>
            <a:endParaRPr lang="en-US" sz="2400" b="1" dirty="0"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b="1" dirty="0">
                <a:cs typeface="+mn-lt"/>
                <a:sym typeface="+mn-ea"/>
              </a:rPr>
              <a:t>Team Members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cs typeface="+mn-lt"/>
              </a:rPr>
              <a:t>Sana Ulah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cs typeface="+mn-lt"/>
              </a:rPr>
              <a:t>Hammad Javed</a:t>
            </a:r>
          </a:p>
          <a:p>
            <a:pPr marL="0" indent="0">
              <a:buNone/>
            </a:pPr>
            <a:endParaRPr lang="en-US" sz="2400" b="1" dirty="0">
              <a:cs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Endeavour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2400" b="1" dirty="0">
                <a:cs typeface="+mn-lt"/>
                <a:sym typeface="+mn-ea"/>
              </a:rPr>
              <a:t>Roles:</a:t>
            </a:r>
            <a:endParaRPr lang="en-US" sz="2400" b="1" dirty="0">
              <a:cs typeface="+mn-lt"/>
            </a:endParaRPr>
          </a:p>
          <a:p>
            <a:pPr algn="just"/>
            <a:r>
              <a:rPr lang="en-US" altLang="en-US" sz="2400" dirty="0">
                <a:cs typeface="+mn-lt"/>
              </a:rPr>
              <a:t>Both team members worked together on all parts of the project, including plaining, documentation, design and implementation 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2400" b="1" dirty="0">
                <a:cs typeface="+mn-lt"/>
                <a:sym typeface="+mn-ea"/>
              </a:rPr>
              <a:t>Describe your software development process</a:t>
            </a:r>
            <a:endParaRPr lang="en-US" sz="2400" b="1" dirty="0">
              <a:cs typeface="+mn-lt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cs typeface="+mn-lt"/>
                <a:sym typeface="+mn-ea"/>
              </a:rPr>
              <a:t>Requirement Gathering: </a:t>
            </a:r>
            <a:r>
              <a:rPr lang="en-US" sz="2400" dirty="0">
                <a:cs typeface="+mn-lt"/>
                <a:sym typeface="+mn-ea"/>
              </a:rPr>
              <a:t>Identified functional and non-functional requirements using elicitation techniques.</a:t>
            </a:r>
            <a:endParaRPr lang="en-US" sz="2400" dirty="0">
              <a:cs typeface="+mn-lt"/>
            </a:endParaRPr>
          </a:p>
          <a:p>
            <a:pPr marL="0" indent="0" algn="just">
              <a:buNone/>
            </a:pPr>
            <a:endParaRPr lang="en-US" altLang="en-US" sz="2400" dirty="0">
              <a:cs typeface="+mn-l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Work Breakdown Structure</a:t>
            </a:r>
            <a:br>
              <a:rPr lang="en-US" dirty="0"/>
            </a:br>
            <a:r>
              <a:rPr lang="en-US" sz="1400" dirty="0"/>
              <a:t>(List of all Deliverables / Strikethrough Completed Deliverables)</a:t>
            </a:r>
            <a:endParaRPr lang="en-US" dirty="0"/>
          </a:p>
        </p:txBody>
      </p:sp>
      <p:sp>
        <p:nvSpPr>
          <p:cNvPr id="8195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12065" indent="0">
              <a:spcBef>
                <a:spcPts val="655"/>
              </a:spcBef>
              <a:buNone/>
              <a:tabLst>
                <a:tab pos="355600" algn="l"/>
                <a:tab pos="356235" algn="l"/>
              </a:tabLst>
            </a:pPr>
            <a:r>
              <a:rPr lang="en-US" sz="2200" b="1" dirty="0">
                <a:cs typeface="+mn-lt"/>
                <a:sym typeface="+mn-ea"/>
              </a:rPr>
              <a:t>Project</a:t>
            </a:r>
            <a:r>
              <a:rPr lang="en-US" sz="2200" b="1" spc="-70" dirty="0">
                <a:cs typeface="+mn-lt"/>
                <a:sym typeface="+mn-ea"/>
              </a:rPr>
              <a:t> </a:t>
            </a:r>
            <a:r>
              <a:rPr lang="en-US" sz="2200" b="1" spc="-10" dirty="0">
                <a:cs typeface="+mn-lt"/>
                <a:sym typeface="+mn-ea"/>
              </a:rPr>
              <a:t>Management</a:t>
            </a:r>
            <a:endParaRPr lang="en-US" sz="2200" b="1" dirty="0">
              <a:cs typeface="+mn-lt"/>
            </a:endParaRPr>
          </a:p>
          <a:p>
            <a:pPr marL="812800" lvl="1" indent="-342900">
              <a:spcBef>
                <a:spcPts val="55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5" dirty="0">
                <a:cs typeface="+mn-lt"/>
                <a:sym typeface="+mn-ea"/>
              </a:rPr>
              <a:t>WBS</a:t>
            </a:r>
            <a:endParaRPr lang="en-US" sz="2200" dirty="0">
              <a:cs typeface="+mn-lt"/>
            </a:endParaRPr>
          </a:p>
          <a:p>
            <a:pPr marL="812800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25" dirty="0">
                <a:cs typeface="+mn-lt"/>
                <a:sym typeface="+mn-ea"/>
              </a:rPr>
              <a:t>Roles</a:t>
            </a:r>
            <a:r>
              <a:rPr lang="en-US" sz="2200" strike="sngStrike" spc="50" dirty="0">
                <a:cs typeface="+mn-lt"/>
                <a:sym typeface="+mn-ea"/>
              </a:rPr>
              <a:t> </a:t>
            </a:r>
            <a:r>
              <a:rPr lang="en-US" sz="2200" strike="sngStrike" dirty="0">
                <a:cs typeface="+mn-lt"/>
                <a:sym typeface="+mn-ea"/>
              </a:rPr>
              <a:t>&amp;</a:t>
            </a:r>
            <a:r>
              <a:rPr lang="en-US" sz="2200" strike="sngStrike" spc="35" dirty="0">
                <a:cs typeface="+mn-lt"/>
                <a:sym typeface="+mn-ea"/>
              </a:rPr>
              <a:t> </a:t>
            </a:r>
            <a:r>
              <a:rPr lang="en-US" sz="2200" strike="sngStrike" spc="-10" dirty="0">
                <a:cs typeface="+mn-lt"/>
                <a:sym typeface="+mn-ea"/>
              </a:rPr>
              <a:t>Responsibility</a:t>
            </a:r>
            <a:r>
              <a:rPr lang="en-US" sz="2200" strike="sngStrike" spc="65" dirty="0">
                <a:cs typeface="+mn-lt"/>
                <a:sym typeface="+mn-ea"/>
              </a:rPr>
              <a:t> </a:t>
            </a:r>
            <a:endParaRPr lang="en-US" sz="2200" strike="sngStrike" dirty="0">
              <a:cs typeface="+mn-lt"/>
            </a:endParaRPr>
          </a:p>
          <a:p>
            <a:pPr marL="812800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10" dirty="0">
                <a:cs typeface="+mn-lt"/>
                <a:sym typeface="+mn-ea"/>
              </a:rPr>
              <a:t>GitHub</a:t>
            </a:r>
            <a:r>
              <a:rPr lang="en-US" sz="2200" strike="sngStrike" spc="35" dirty="0">
                <a:cs typeface="+mn-lt"/>
                <a:sym typeface="+mn-ea"/>
              </a:rPr>
              <a:t> </a:t>
            </a:r>
            <a:r>
              <a:rPr lang="en-US" sz="2200" strike="sngStrike" spc="-5" dirty="0">
                <a:cs typeface="+mn-lt"/>
                <a:sym typeface="+mn-ea"/>
              </a:rPr>
              <a:t>Repositories</a:t>
            </a:r>
            <a:endParaRPr lang="en-US" sz="2200" dirty="0">
              <a:cs typeface="+mn-lt"/>
            </a:endParaRPr>
          </a:p>
          <a:p>
            <a:pPr marL="12065" indent="0">
              <a:spcBef>
                <a:spcPts val="485"/>
              </a:spcBef>
              <a:buNone/>
              <a:tabLst>
                <a:tab pos="355600" algn="l"/>
                <a:tab pos="356235" algn="l"/>
              </a:tabLst>
            </a:pPr>
            <a:r>
              <a:rPr lang="en-US" sz="2200" b="1" spc="5" dirty="0">
                <a:cs typeface="+mn-lt"/>
                <a:sym typeface="+mn-ea"/>
              </a:rPr>
              <a:t>F</a:t>
            </a:r>
            <a:r>
              <a:rPr lang="en-US" sz="2200" b="1" spc="20" dirty="0">
                <a:cs typeface="+mn-lt"/>
                <a:sym typeface="+mn-ea"/>
              </a:rPr>
              <a:t>Y</a:t>
            </a:r>
            <a:r>
              <a:rPr lang="en-US" sz="2200" b="1" dirty="0">
                <a:cs typeface="+mn-lt"/>
                <a:sym typeface="+mn-ea"/>
              </a:rPr>
              <a:t>P</a:t>
            </a:r>
            <a:r>
              <a:rPr lang="en-US" sz="2200" b="1" spc="-65" dirty="0">
                <a:cs typeface="+mn-lt"/>
                <a:sym typeface="+mn-ea"/>
              </a:rPr>
              <a:t> </a:t>
            </a:r>
            <a:r>
              <a:rPr lang="en-US" sz="2200" b="1" spc="-20" dirty="0">
                <a:cs typeface="+mn-lt"/>
                <a:sym typeface="+mn-ea"/>
              </a:rPr>
              <a:t>R</a:t>
            </a:r>
            <a:r>
              <a:rPr lang="en-US" sz="2200" b="1" dirty="0">
                <a:cs typeface="+mn-lt"/>
                <a:sym typeface="+mn-ea"/>
              </a:rPr>
              <a:t>e</a:t>
            </a:r>
            <a:r>
              <a:rPr lang="en-US" sz="2200" b="1" spc="15" dirty="0">
                <a:cs typeface="+mn-lt"/>
                <a:sym typeface="+mn-ea"/>
              </a:rPr>
              <a:t>p</a:t>
            </a:r>
            <a:r>
              <a:rPr lang="en-US" sz="2200" b="1" spc="10" dirty="0">
                <a:cs typeface="+mn-lt"/>
                <a:sym typeface="+mn-ea"/>
              </a:rPr>
              <a:t>or</a:t>
            </a:r>
            <a:r>
              <a:rPr lang="en-US" sz="2200" b="1" dirty="0">
                <a:cs typeface="+mn-lt"/>
                <a:sym typeface="+mn-ea"/>
              </a:rPr>
              <a:t>t</a:t>
            </a:r>
            <a:endParaRPr lang="en-US" sz="2200" b="1" dirty="0">
              <a:cs typeface="+mn-lt"/>
            </a:endParaRPr>
          </a:p>
          <a:p>
            <a:pPr marL="812800" lvl="1" indent="-342900">
              <a:spcBef>
                <a:spcPts val="560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35" dirty="0">
                <a:cs typeface="+mn-lt"/>
                <a:sym typeface="+mn-ea"/>
              </a:rPr>
              <a:t>P</a:t>
            </a:r>
            <a:r>
              <a:rPr lang="en-US" sz="2200" strike="sngStrike" spc="15" dirty="0">
                <a:cs typeface="+mn-lt"/>
                <a:sym typeface="+mn-ea"/>
              </a:rPr>
              <a:t>ro</a:t>
            </a:r>
            <a:r>
              <a:rPr lang="en-US" sz="2200" strike="sngStrike" spc="20" dirty="0">
                <a:cs typeface="+mn-lt"/>
                <a:sym typeface="+mn-ea"/>
              </a:rPr>
              <a:t>j</a:t>
            </a:r>
            <a:r>
              <a:rPr lang="en-US" sz="2200" strike="sngStrike" dirty="0">
                <a:cs typeface="+mn-lt"/>
                <a:sym typeface="+mn-ea"/>
              </a:rPr>
              <a:t>e</a:t>
            </a:r>
            <a:r>
              <a:rPr lang="en-US" sz="2200" strike="sngStrike" spc="15" dirty="0">
                <a:cs typeface="+mn-lt"/>
                <a:sym typeface="+mn-ea"/>
              </a:rPr>
              <a:t>c</a:t>
            </a:r>
            <a:r>
              <a:rPr lang="en-US" sz="2200" strike="sngStrike" dirty="0">
                <a:cs typeface="+mn-lt"/>
                <a:sym typeface="+mn-ea"/>
              </a:rPr>
              <a:t>t</a:t>
            </a:r>
            <a:r>
              <a:rPr lang="en-US" sz="2200" strike="sngStrike" spc="-55" dirty="0">
                <a:cs typeface="+mn-lt"/>
                <a:sym typeface="+mn-ea"/>
              </a:rPr>
              <a:t> </a:t>
            </a:r>
            <a:r>
              <a:rPr lang="en-US" sz="2200" strike="sngStrike" spc="5" dirty="0">
                <a:cs typeface="+mn-lt"/>
                <a:sym typeface="+mn-ea"/>
              </a:rPr>
              <a:t>S</a:t>
            </a:r>
            <a:r>
              <a:rPr lang="en-US" sz="2200" strike="sngStrike" spc="10" dirty="0">
                <a:cs typeface="+mn-lt"/>
                <a:sym typeface="+mn-ea"/>
              </a:rPr>
              <a:t>c</a:t>
            </a:r>
            <a:r>
              <a:rPr lang="en-US" sz="2200" strike="sngStrike" spc="15" dirty="0">
                <a:cs typeface="+mn-lt"/>
                <a:sym typeface="+mn-ea"/>
              </a:rPr>
              <a:t>o</a:t>
            </a:r>
            <a:r>
              <a:rPr lang="en-US" sz="2200" strike="sngStrike" spc="20" dirty="0">
                <a:cs typeface="+mn-lt"/>
                <a:sym typeface="+mn-ea"/>
              </a:rPr>
              <a:t>p</a:t>
            </a:r>
            <a:r>
              <a:rPr lang="en-US" sz="2200" strike="sngStrike" dirty="0">
                <a:cs typeface="+mn-lt"/>
                <a:sym typeface="+mn-ea"/>
              </a:rPr>
              <a:t>e</a:t>
            </a:r>
            <a:r>
              <a:rPr lang="en-US" sz="2200" strike="sngStrike" spc="-95" dirty="0">
                <a:cs typeface="+mn-lt"/>
                <a:sym typeface="+mn-ea"/>
              </a:rPr>
              <a:t> </a:t>
            </a:r>
            <a:r>
              <a:rPr lang="en-US" sz="2200" strike="sngStrike" dirty="0">
                <a:cs typeface="+mn-lt"/>
                <a:sym typeface="+mn-ea"/>
              </a:rPr>
              <a:t>&amp;</a:t>
            </a:r>
            <a:r>
              <a:rPr lang="en-US" sz="2200" strike="sngStrike" spc="40" dirty="0">
                <a:cs typeface="+mn-lt"/>
                <a:sym typeface="+mn-ea"/>
              </a:rPr>
              <a:t> </a:t>
            </a:r>
            <a:r>
              <a:rPr lang="en-US" sz="2200" strike="sngStrike" spc="30" dirty="0">
                <a:cs typeface="+mn-lt"/>
                <a:sym typeface="+mn-ea"/>
              </a:rPr>
              <a:t>O</a:t>
            </a:r>
            <a:r>
              <a:rPr lang="en-US" sz="2200" strike="sngStrike" spc="20" dirty="0">
                <a:cs typeface="+mn-lt"/>
                <a:sym typeface="+mn-ea"/>
              </a:rPr>
              <a:t>bj</a:t>
            </a:r>
            <a:r>
              <a:rPr lang="en-US" sz="2200" strike="sngStrike" dirty="0">
                <a:cs typeface="+mn-lt"/>
                <a:sym typeface="+mn-ea"/>
              </a:rPr>
              <a:t>e</a:t>
            </a:r>
            <a:r>
              <a:rPr lang="en-US" sz="2200" strike="sngStrike" spc="15" dirty="0">
                <a:cs typeface="+mn-lt"/>
                <a:sym typeface="+mn-ea"/>
              </a:rPr>
              <a:t>c</a:t>
            </a:r>
            <a:r>
              <a:rPr lang="en-US" sz="2200" strike="sngStrike" spc="-30" dirty="0">
                <a:cs typeface="+mn-lt"/>
                <a:sym typeface="+mn-ea"/>
              </a:rPr>
              <a:t>t</a:t>
            </a:r>
            <a:r>
              <a:rPr lang="en-US" sz="2200" strike="sngStrike" spc="-35" dirty="0">
                <a:cs typeface="+mn-lt"/>
                <a:sym typeface="+mn-ea"/>
              </a:rPr>
              <a:t>i</a:t>
            </a:r>
            <a:r>
              <a:rPr lang="en-US" sz="2200" strike="sngStrike" spc="25" dirty="0">
                <a:cs typeface="+mn-lt"/>
                <a:sym typeface="+mn-ea"/>
              </a:rPr>
              <a:t>v</a:t>
            </a:r>
            <a:r>
              <a:rPr lang="en-US" sz="2200" strike="sngStrike" dirty="0">
                <a:cs typeface="+mn-lt"/>
                <a:sym typeface="+mn-ea"/>
              </a:rPr>
              <a:t>es</a:t>
            </a:r>
            <a:endParaRPr lang="en-US" sz="2200" dirty="0">
              <a:cs typeface="+mn-lt"/>
            </a:endParaRPr>
          </a:p>
          <a:p>
            <a:pPr marL="812800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-15" dirty="0">
                <a:cs typeface="+mn-lt"/>
                <a:sym typeface="+mn-ea"/>
              </a:rPr>
              <a:t>Market</a:t>
            </a:r>
            <a:r>
              <a:rPr lang="en-US" sz="2200" strike="sngStrike" spc="-75" dirty="0">
                <a:cs typeface="+mn-lt"/>
                <a:sym typeface="+mn-ea"/>
              </a:rPr>
              <a:t> </a:t>
            </a:r>
            <a:r>
              <a:rPr lang="en-US" sz="2200" strike="sngStrike" spc="10" dirty="0">
                <a:cs typeface="+mn-lt"/>
                <a:sym typeface="+mn-ea"/>
              </a:rPr>
              <a:t>Survey</a:t>
            </a:r>
            <a:endParaRPr lang="en-US" sz="2200" dirty="0">
              <a:cs typeface="+mn-lt"/>
            </a:endParaRPr>
          </a:p>
          <a:p>
            <a:pPr marL="812800" lvl="1" indent="-342900">
              <a:spcBef>
                <a:spcPts val="555"/>
              </a:spcBef>
              <a:buFont typeface="Arial" panose="020B0604020202020204" pitchFamily="34" charset="0"/>
              <a:buChar char="•"/>
              <a:tabLst>
                <a:tab pos="755650" algn="l"/>
                <a:tab pos="756285" algn="l"/>
              </a:tabLst>
            </a:pPr>
            <a:r>
              <a:rPr lang="en-US" sz="2200" strike="sngStrike" spc="5" dirty="0">
                <a:cs typeface="+mn-lt"/>
                <a:sym typeface="+mn-ea"/>
              </a:rPr>
              <a:t>Project</a:t>
            </a:r>
            <a:r>
              <a:rPr lang="en-US" sz="2200" strike="sngStrike" spc="-90" dirty="0">
                <a:cs typeface="+mn-lt"/>
                <a:sym typeface="+mn-ea"/>
              </a:rPr>
              <a:t> </a:t>
            </a:r>
            <a:r>
              <a:rPr lang="en-US" sz="2200" strike="sngStrike" dirty="0">
                <a:cs typeface="+mn-lt"/>
                <a:sym typeface="+mn-ea"/>
              </a:rPr>
              <a:t>Requirements</a:t>
            </a:r>
            <a:endParaRPr lang="en-US" sz="2200" dirty="0">
              <a:cs typeface="+mn-lt"/>
            </a:endParaRPr>
          </a:p>
          <a:p>
            <a:pPr marL="1270635" lvl="2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1156335" algn="l"/>
                <a:tab pos="1156970" algn="l"/>
              </a:tabLst>
            </a:pPr>
            <a:r>
              <a:rPr lang="en-US" sz="2200" strike="sngStrike" spc="-5" dirty="0">
                <a:cs typeface="+mn-lt"/>
                <a:sym typeface="+mn-ea"/>
              </a:rPr>
              <a:t> Functional</a:t>
            </a:r>
            <a:endParaRPr lang="en-US" sz="2200" dirty="0">
              <a:cs typeface="+mn-lt"/>
            </a:endParaRPr>
          </a:p>
          <a:p>
            <a:pPr marL="0" indent="0" eaLnBrk="1" hangingPunct="1">
              <a:buNone/>
            </a:pPr>
            <a:endParaRPr lang="en-US" sz="2200" dirty="0">
              <a:cs typeface="+mn-lt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12065" indent="0">
              <a:spcBef>
                <a:spcPts val="655"/>
              </a:spcBef>
              <a:buNone/>
              <a:tabLst>
                <a:tab pos="298450" algn="l"/>
                <a:tab pos="299085" algn="l"/>
              </a:tabLst>
            </a:pPr>
            <a:r>
              <a:rPr lang="en-US" sz="2200" b="1" strike="sngStrike" spc="-15" dirty="0">
                <a:latin typeface="Calibri" panose="020F0502020204030204"/>
                <a:cs typeface="Calibri" panose="020F0502020204030204"/>
                <a:sym typeface="+mn-ea"/>
              </a:rPr>
              <a:t>R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e</a:t>
            </a:r>
            <a:r>
              <a:rPr lang="en-US" sz="2200" b="1" strike="sngStrike" spc="25" dirty="0">
                <a:latin typeface="Calibri" panose="020F0502020204030204"/>
                <a:cs typeface="Calibri" panose="020F0502020204030204"/>
                <a:sym typeface="+mn-ea"/>
              </a:rPr>
              <a:t>q</a:t>
            </a:r>
            <a:r>
              <a:rPr lang="en-US" sz="2200" b="1" strike="sngStrike" spc="20" dirty="0">
                <a:latin typeface="Calibri" panose="020F0502020204030204"/>
                <a:cs typeface="Calibri" panose="020F0502020204030204"/>
                <a:sym typeface="+mn-ea"/>
              </a:rPr>
              <a:t>u</a:t>
            </a:r>
            <a:r>
              <a:rPr lang="en-US" sz="2200" b="1" strike="sngStrike" spc="-35" dirty="0">
                <a:latin typeface="Calibri" panose="020F0502020204030204"/>
                <a:cs typeface="Calibri" panose="020F0502020204030204"/>
                <a:sym typeface="+mn-ea"/>
              </a:rPr>
              <a:t>i</a:t>
            </a:r>
            <a:r>
              <a:rPr lang="en-US" sz="2200" b="1" strike="sngStrike" spc="15" dirty="0">
                <a:latin typeface="Calibri" panose="020F0502020204030204"/>
                <a:cs typeface="Calibri" panose="020F0502020204030204"/>
                <a:sym typeface="+mn-ea"/>
              </a:rPr>
              <a:t>r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e</a:t>
            </a:r>
            <a:r>
              <a:rPr lang="en-US" sz="2200" b="1" strike="sngStrike" spc="-25" dirty="0">
                <a:latin typeface="Calibri" panose="020F0502020204030204"/>
                <a:cs typeface="Calibri" panose="020F0502020204030204"/>
                <a:sym typeface="+mn-ea"/>
              </a:rPr>
              <a:t>m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e</a:t>
            </a:r>
            <a:r>
              <a:rPr lang="en-US" sz="2200" b="1" strike="sngStrike" spc="25" dirty="0">
                <a:latin typeface="Calibri" panose="020F0502020204030204"/>
                <a:cs typeface="Calibri" panose="020F0502020204030204"/>
                <a:sym typeface="+mn-ea"/>
              </a:rPr>
              <a:t>n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t</a:t>
            </a:r>
            <a:r>
              <a:rPr lang="en-US" sz="2200" b="1" strike="sngStrike" spc="-130" dirty="0">
                <a:latin typeface="Calibri" panose="020F0502020204030204"/>
                <a:cs typeface="Calibri" panose="020F0502020204030204"/>
                <a:sym typeface="+mn-ea"/>
              </a:rPr>
              <a:t> </a:t>
            </a:r>
            <a:r>
              <a:rPr lang="en-US" sz="2200" b="1" strike="sngStrike" spc="-15" dirty="0">
                <a:latin typeface="Calibri" panose="020F0502020204030204"/>
                <a:cs typeface="Calibri" panose="020F0502020204030204"/>
                <a:sym typeface="+mn-ea"/>
              </a:rPr>
              <a:t>A</a:t>
            </a:r>
            <a:r>
              <a:rPr lang="en-US" sz="2200" b="1" strike="sngStrike" spc="20" dirty="0">
                <a:latin typeface="Calibri" panose="020F0502020204030204"/>
                <a:cs typeface="Calibri" panose="020F0502020204030204"/>
                <a:sym typeface="+mn-ea"/>
              </a:rPr>
              <a:t>n</a:t>
            </a:r>
            <a:r>
              <a:rPr lang="en-US" sz="2200" b="1" strike="sngStrike" spc="-30" dirty="0">
                <a:latin typeface="Calibri" panose="020F0502020204030204"/>
                <a:cs typeface="Calibri" panose="020F0502020204030204"/>
                <a:sym typeface="+mn-ea"/>
              </a:rPr>
              <a:t>a</a:t>
            </a:r>
            <a:r>
              <a:rPr lang="en-US" sz="2200" b="1" strike="sngStrike" spc="-35" dirty="0">
                <a:latin typeface="Calibri" panose="020F0502020204030204"/>
                <a:cs typeface="Calibri" panose="020F0502020204030204"/>
                <a:sym typeface="+mn-ea"/>
              </a:rPr>
              <a:t>l</a:t>
            </a:r>
            <a:r>
              <a:rPr lang="en-US" sz="2200" b="1" strike="sngStrike" spc="20" dirty="0">
                <a:latin typeface="Calibri" panose="020F0502020204030204"/>
                <a:cs typeface="Calibri" panose="020F0502020204030204"/>
                <a:sym typeface="+mn-ea"/>
              </a:rPr>
              <a:t>y</a:t>
            </a:r>
            <a:r>
              <a:rPr lang="en-US" sz="2200" b="1" strike="sngStrike" spc="-5" dirty="0">
                <a:latin typeface="Calibri" panose="020F0502020204030204"/>
                <a:cs typeface="Calibri" panose="020F0502020204030204"/>
                <a:sym typeface="+mn-ea"/>
              </a:rPr>
              <a:t>s</a:t>
            </a:r>
            <a:r>
              <a:rPr lang="en-US" sz="2200" b="1" strike="sngStrike" spc="-30" dirty="0">
                <a:latin typeface="Calibri" panose="020F0502020204030204"/>
                <a:cs typeface="Calibri" panose="020F0502020204030204"/>
                <a:sym typeface="+mn-ea"/>
              </a:rPr>
              <a:t>i</a:t>
            </a:r>
            <a:r>
              <a:rPr lang="en-US" sz="2200" b="1" strike="sngStrike" dirty="0">
                <a:latin typeface="Calibri" panose="020F0502020204030204"/>
                <a:cs typeface="Calibri" panose="020F0502020204030204"/>
                <a:sym typeface="+mn-ea"/>
              </a:rPr>
              <a:t>s</a:t>
            </a:r>
            <a:endParaRPr lang="en-US" sz="2200" b="1" dirty="0">
              <a:latin typeface="Calibri" panose="020F0502020204030204"/>
              <a:cs typeface="Calibri" panose="020F0502020204030204"/>
            </a:endParaRPr>
          </a:p>
          <a:p>
            <a:pPr marL="12065" indent="0">
              <a:spcBef>
                <a:spcPts val="555"/>
              </a:spcBef>
              <a:buNone/>
              <a:tabLst>
                <a:tab pos="298450" algn="l"/>
                <a:tab pos="299085" algn="l"/>
              </a:tabLst>
            </a:pPr>
            <a:r>
              <a:rPr lang="en-US" sz="2200" b="1" spc="-5" dirty="0">
                <a:latin typeface="Calibri" panose="020F0502020204030204"/>
                <a:cs typeface="Calibri" panose="020F0502020204030204"/>
                <a:sym typeface="+mn-ea"/>
              </a:rPr>
              <a:t>Designs</a:t>
            </a:r>
            <a:endParaRPr lang="en-US" sz="2200" b="1" dirty="0">
              <a:latin typeface="Calibri" panose="020F0502020204030204"/>
              <a:cs typeface="Calibri" panose="020F0502020204030204"/>
            </a:endParaRPr>
          </a:p>
          <a:p>
            <a:pPr marL="812165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699135" algn="l"/>
                <a:tab pos="699770" algn="l"/>
              </a:tabLst>
            </a:pPr>
            <a:r>
              <a:rPr lang="en-US" sz="2000" strike="sngStrike" spc="-20" dirty="0">
                <a:cs typeface="Calibri" panose="020F0502020204030204"/>
                <a:sym typeface="+mn-ea"/>
              </a:rPr>
              <a:t>A</a:t>
            </a:r>
            <a:r>
              <a:rPr lang="en-US" sz="2000" strike="sngStrike" spc="15" dirty="0">
                <a:cs typeface="Calibri" panose="020F0502020204030204"/>
                <a:sym typeface="+mn-ea"/>
              </a:rPr>
              <a:t>r</a:t>
            </a:r>
            <a:r>
              <a:rPr lang="en-US" sz="2000" strike="sngStrike" spc="5" dirty="0">
                <a:cs typeface="Calibri" panose="020F0502020204030204"/>
                <a:sym typeface="+mn-ea"/>
              </a:rPr>
              <a:t>c</a:t>
            </a:r>
            <a:r>
              <a:rPr lang="en-US" sz="2000" strike="sngStrike" spc="15" dirty="0">
                <a:cs typeface="Calibri" panose="020F0502020204030204"/>
                <a:sym typeface="+mn-ea"/>
              </a:rPr>
              <a:t>h</a:t>
            </a:r>
            <a:r>
              <a:rPr lang="en-US" sz="2000" strike="sngStrike" spc="-35" dirty="0">
                <a:cs typeface="Calibri" panose="020F0502020204030204"/>
                <a:sym typeface="+mn-ea"/>
              </a:rPr>
              <a:t>i</a:t>
            </a:r>
            <a:r>
              <a:rPr lang="en-US" sz="2000" strike="sngStrike" spc="-30" dirty="0">
                <a:cs typeface="Calibri" panose="020F0502020204030204"/>
                <a:sym typeface="+mn-ea"/>
              </a:rPr>
              <a:t>t</a:t>
            </a:r>
            <a:r>
              <a:rPr lang="en-US" sz="2000" strike="sngStrike" dirty="0">
                <a:cs typeface="Calibri" panose="020F0502020204030204"/>
                <a:sym typeface="+mn-ea"/>
              </a:rPr>
              <a:t>e</a:t>
            </a:r>
            <a:r>
              <a:rPr lang="en-US" sz="2000" strike="sngStrike" spc="10" dirty="0">
                <a:cs typeface="Calibri" panose="020F0502020204030204"/>
                <a:sym typeface="+mn-ea"/>
              </a:rPr>
              <a:t>c</a:t>
            </a:r>
            <a:r>
              <a:rPr lang="en-US" sz="2000" strike="sngStrike" spc="-30" dirty="0">
                <a:cs typeface="Calibri" panose="020F0502020204030204"/>
                <a:sym typeface="+mn-ea"/>
              </a:rPr>
              <a:t>t</a:t>
            </a:r>
            <a:r>
              <a:rPr lang="en-US" sz="2000" strike="sngStrike" spc="15" dirty="0">
                <a:cs typeface="Calibri" panose="020F0502020204030204"/>
                <a:sym typeface="+mn-ea"/>
              </a:rPr>
              <a:t>ur</a:t>
            </a:r>
            <a:r>
              <a:rPr lang="en-US" sz="2000" strike="sngStrike" dirty="0">
                <a:cs typeface="Calibri" panose="020F0502020204030204"/>
                <a:sym typeface="+mn-ea"/>
              </a:rPr>
              <a:t>e</a:t>
            </a:r>
            <a:r>
              <a:rPr lang="en-US" sz="2000" strike="sngStrike" spc="-95" dirty="0">
                <a:cs typeface="Calibri" panose="020F0502020204030204"/>
                <a:sym typeface="+mn-ea"/>
              </a:rPr>
              <a:t> </a:t>
            </a:r>
            <a:r>
              <a:rPr lang="en-US" sz="2000" strike="sngStrike" spc="-20" dirty="0">
                <a:cs typeface="Calibri" panose="020F0502020204030204"/>
                <a:sym typeface="+mn-ea"/>
              </a:rPr>
              <a:t>D</a:t>
            </a:r>
            <a:r>
              <a:rPr lang="en-US" sz="2000" strike="sngStrike" dirty="0">
                <a:cs typeface="Calibri" panose="020F0502020204030204"/>
                <a:sym typeface="+mn-ea"/>
              </a:rPr>
              <a:t>es</a:t>
            </a:r>
            <a:r>
              <a:rPr lang="en-US" sz="2000" strike="sngStrike" spc="-30" dirty="0">
                <a:cs typeface="Calibri" panose="020F0502020204030204"/>
                <a:sym typeface="+mn-ea"/>
              </a:rPr>
              <a:t>i</a:t>
            </a:r>
            <a:r>
              <a:rPr lang="en-US" sz="2000" strike="sngStrike" spc="-15" dirty="0">
                <a:cs typeface="Calibri" panose="020F0502020204030204"/>
                <a:sym typeface="+mn-ea"/>
              </a:rPr>
              <a:t>g</a:t>
            </a:r>
            <a:r>
              <a:rPr lang="en-US" sz="2000" strike="sngStrike" dirty="0">
                <a:cs typeface="Calibri" panose="020F0502020204030204"/>
                <a:sym typeface="+mn-ea"/>
              </a:rPr>
              <a:t>n</a:t>
            </a:r>
            <a:endParaRPr lang="en-US" sz="2000" dirty="0">
              <a:cs typeface="Calibri" panose="020F0502020204030204"/>
            </a:endParaRPr>
          </a:p>
          <a:p>
            <a:pPr marL="812165" lvl="1" indent="-342900">
              <a:spcBef>
                <a:spcPts val="560"/>
              </a:spcBef>
              <a:buFont typeface="Arial" panose="020B0604020202020204" pitchFamily="34" charset="0"/>
              <a:buChar char="•"/>
              <a:tabLst>
                <a:tab pos="699135" algn="l"/>
                <a:tab pos="699770" algn="l"/>
              </a:tabLst>
            </a:pPr>
            <a:r>
              <a:rPr lang="en-US" sz="2000" strike="sngStrike" spc="-15" dirty="0">
                <a:cs typeface="Calibri" panose="020F0502020204030204"/>
                <a:sym typeface="+mn-ea"/>
              </a:rPr>
              <a:t>Activity</a:t>
            </a:r>
            <a:r>
              <a:rPr lang="en-US" sz="2000" strike="sngStrike" spc="50" dirty="0">
                <a:cs typeface="Calibri" panose="020F0502020204030204"/>
                <a:sym typeface="+mn-ea"/>
              </a:rPr>
              <a:t> </a:t>
            </a:r>
            <a:r>
              <a:rPr lang="en-US" sz="2000" strike="sngStrike" spc="-30" dirty="0">
                <a:cs typeface="Calibri" panose="020F0502020204030204"/>
                <a:sym typeface="+mn-ea"/>
              </a:rPr>
              <a:t>Diagrams</a:t>
            </a:r>
            <a:endParaRPr lang="en-US" sz="2000" dirty="0">
              <a:cs typeface="Calibri" panose="020F0502020204030204"/>
            </a:endParaRPr>
          </a:p>
          <a:p>
            <a:pPr marL="812165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699135" algn="l"/>
                <a:tab pos="699770" algn="l"/>
              </a:tabLst>
            </a:pPr>
            <a:r>
              <a:rPr lang="en-US" sz="2000" strike="sngStrike" dirty="0">
                <a:cs typeface="Calibri" panose="020F0502020204030204"/>
                <a:sym typeface="+mn-ea"/>
              </a:rPr>
              <a:t>Use</a:t>
            </a:r>
            <a:r>
              <a:rPr lang="en-US" sz="2000" strike="sngStrike" spc="-40" dirty="0">
                <a:cs typeface="Calibri" panose="020F0502020204030204"/>
                <a:sym typeface="+mn-ea"/>
              </a:rPr>
              <a:t> </a:t>
            </a:r>
            <a:r>
              <a:rPr lang="en-US" sz="2000" strike="sngStrike" spc="-10" dirty="0">
                <a:cs typeface="Calibri" panose="020F0502020204030204"/>
                <a:sym typeface="+mn-ea"/>
              </a:rPr>
              <a:t>Case</a:t>
            </a:r>
            <a:r>
              <a:rPr lang="en-US" sz="2000" strike="sngStrike" spc="35" dirty="0">
                <a:cs typeface="Calibri" panose="020F0502020204030204"/>
                <a:sym typeface="+mn-ea"/>
              </a:rPr>
              <a:t> </a:t>
            </a:r>
            <a:r>
              <a:rPr lang="en-US" sz="2000" strike="sngStrike" spc="-30" dirty="0">
                <a:cs typeface="Calibri" panose="020F0502020204030204"/>
                <a:sym typeface="+mn-ea"/>
              </a:rPr>
              <a:t>Diagrams</a:t>
            </a:r>
          </a:p>
          <a:p>
            <a:pPr marL="812165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699135" algn="l"/>
                <a:tab pos="699770" algn="l"/>
              </a:tabLst>
            </a:pPr>
            <a:r>
              <a:rPr lang="en-US" sz="2000" strike="sngStrike" spc="-30" dirty="0">
                <a:cs typeface="Calibri" panose="020F0502020204030204"/>
                <a:sym typeface="+mn-ea"/>
              </a:rPr>
              <a:t>MVC Diagram</a:t>
            </a:r>
          </a:p>
          <a:p>
            <a:pPr marL="812165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699135" algn="l"/>
                <a:tab pos="699770" algn="l"/>
              </a:tabLst>
            </a:pPr>
            <a:r>
              <a:rPr lang="en-US" sz="2000" strike="sngStrike" spc="-30" dirty="0">
                <a:cs typeface="Calibri" panose="020F0502020204030204"/>
                <a:sym typeface="+mn-ea"/>
              </a:rPr>
              <a:t>Deployment Diagram</a:t>
            </a:r>
            <a:endParaRPr lang="en-GB" sz="2000" dirty="0">
              <a:cs typeface="Times New Roman" panose="02020603050405020304" pitchFamily="18" charset="0"/>
            </a:endParaRPr>
          </a:p>
          <a:p>
            <a:pPr marL="812165" lvl="1" indent="-342900">
              <a:spcBef>
                <a:spcPts val="485"/>
              </a:spcBef>
              <a:buFont typeface="Arial" panose="020B0604020202020204" pitchFamily="34" charset="0"/>
              <a:buChar char="•"/>
              <a:tabLst>
                <a:tab pos="699135" algn="l"/>
                <a:tab pos="699770" algn="l"/>
              </a:tabLst>
            </a:pP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Prototype &amp; Report</a:t>
            </a:r>
          </a:p>
        </p:txBody>
      </p:sp>
      <p:sp>
        <p:nvSpPr>
          <p:cNvPr id="12291" name="Text Placeholder 4"/>
          <p:cNvSpPr>
            <a:spLocks noGrp="1"/>
          </p:cNvSpPr>
          <p:nvPr>
            <p:ph type="body" idx="1"/>
          </p:nvPr>
        </p:nvSpPr>
        <p:spPr/>
        <p:txBody>
          <a:bodyPr rtlCol="0">
            <a:normAutofit/>
          </a:bodyPr>
          <a:lstStyle/>
          <a:p>
            <a:pPr marL="4445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Prototype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Report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Chapter 1: Introduction</a:t>
            </a:r>
          </a:p>
          <a:p>
            <a:pPr eaLnBrk="1" hangingPunct="1"/>
            <a:r>
              <a:rPr lang="en-US" dirty="0"/>
              <a:t>Chapter 2: Literature / Market Survey</a:t>
            </a:r>
          </a:p>
          <a:p>
            <a:pPr eaLnBrk="1" hangingPunct="1"/>
            <a:r>
              <a:rPr lang="en-US" dirty="0"/>
              <a:t>Chapter 3: Requirement Analysis</a:t>
            </a:r>
          </a:p>
          <a:p>
            <a:pPr eaLnBrk="1" hangingPunct="1"/>
            <a:r>
              <a:rPr lang="en-US" dirty="0"/>
              <a:t>Chapter 4: System Design</a:t>
            </a:r>
          </a:p>
          <a:p>
            <a:pPr eaLnBrk="1" hangingPunct="1"/>
            <a:r>
              <a:rPr lang="en-US" dirty="0"/>
              <a:t>Chapter 5: Implementation</a:t>
            </a:r>
          </a:p>
          <a:p>
            <a:pPr eaLnBrk="1" hangingPunct="1"/>
            <a:r>
              <a:rPr lang="en-US" dirty="0"/>
              <a:t>Chapter 6: Testing &amp; Evaluations</a:t>
            </a:r>
          </a:p>
          <a:p>
            <a:pPr eaLnBrk="1" hangingPunct="1"/>
            <a:r>
              <a:rPr lang="en-US" dirty="0"/>
              <a:t>Chapter 7: Conclusion &amp; Outlook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</TotalTime>
  <Words>493</Words>
  <Application>Microsoft Office PowerPoint</Application>
  <PresentationFormat>On-screen Show (4:3)</PresentationFormat>
  <Paragraphs>112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Times New Roman</vt:lpstr>
      <vt:lpstr>Office Theme</vt:lpstr>
      <vt:lpstr>Final Year Project</vt:lpstr>
      <vt:lpstr>Project Team</vt:lpstr>
      <vt:lpstr>Table of Content</vt:lpstr>
      <vt:lpstr>Opportunity &amp; Stakeholders</vt:lpstr>
      <vt:lpstr>Opportunity </vt:lpstr>
      <vt:lpstr>Stakeholders</vt:lpstr>
      <vt:lpstr>Solution</vt:lpstr>
      <vt:lpstr>PROGRESS REPORT Summary</vt:lpstr>
      <vt:lpstr>Requirements</vt:lpstr>
      <vt:lpstr>Design</vt:lpstr>
      <vt:lpstr>Implementation</vt:lpstr>
      <vt:lpstr>Implementation</vt:lpstr>
      <vt:lpstr>Endeavour</vt:lpstr>
      <vt:lpstr>Endeavour</vt:lpstr>
      <vt:lpstr>Endeavour</vt:lpstr>
      <vt:lpstr>Work Breakdown Structure (List of all Deliverables / Strikethrough Completed Deliverables)</vt:lpstr>
      <vt:lpstr>Prototype &amp; Report</vt:lpstr>
      <vt:lpstr>Prototype</vt:lpstr>
      <vt:lpstr>Report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Year Project Proposal</dc:title>
  <dc:creator>Khan</dc:creator>
  <cp:lastModifiedBy>Sana Ullah</cp:lastModifiedBy>
  <cp:revision>49</cp:revision>
  <dcterms:created xsi:type="dcterms:W3CDTF">2013-01-22T07:04:00Z</dcterms:created>
  <dcterms:modified xsi:type="dcterms:W3CDTF">2025-11-25T16:44:04Z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4EF9F9F198F040668C5B097E96F670A4_12</vt:lpwstr>
  </property>
  <property fmtid="{D5CDD505-2E9C-101B-9397-08002B2CF9AE}" pid="3" name="KSOProductBuildVer">
    <vt:lpwstr>1033-12.2.0.21546</vt:lpwstr>
  </property>
</Properties>
</file>